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60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12191695" cy="6858000"/>
  <p:notesSz cx="6857895" cy="9143861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1pPr>
    <a:lvl2pPr marL="457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2pPr>
    <a:lvl3pPr marL="914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3pPr>
    <a:lvl4pPr marL="13716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4pPr>
    <a:lvl5pPr marL="18288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 showNarration="1"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620" autoAdjust="0"/>
    <p:restoredTop sz="94660" autoAdjust="0"/>
  </p:normalViewPr>
  <p:slideViewPr>
    <p:cSldViewPr snapToGrid="0" snapToObjects="1">
      <p:cViewPr varScale="1">
        <p:scale>
          <a:sx n="84" d="100"/>
          <a:sy n="84" d="100"/>
        </p:scale>
        <p:origin x="0" y="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/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0" y="0"/>
      </p:cViewPr>
      <p:guideLst/>
    </p:cSldViewPr>
  </p:notesViewPr>
  <p:gridSpacing cx="72009" cy="72009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subTitle" idx="1"/>
          </p:nvPr>
        </p:nvSpPr>
        <p:spPr>
          <a:xfrm>
            <a:off x="1828754" y="3886199"/>
            <a:ext cx="8534186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0198497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523299"/>
      </p:ext>
    </p:extLst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7361941"/>
      </p:ext>
    </p:extLst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xmlns:r="http://schemas.openxmlformats.org/officeDocument/2006/relationships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9281199"/>
      </p:ext>
    </p:extLst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xmlns:r="http://schemas.openxmlformats.org/officeDocument/2006/relationships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Text box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Text box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8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2726851"/>
      </p:ext>
    </p:extLst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xmlns:r="http://schemas.openxmlformats.org/officeDocument/2006/relationships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3002514"/>
      </p:ext>
    </p:extLst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90737"/>
      </p:ext>
    </p:extLst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xmlns:r="http://schemas.openxmlformats.org/officeDocument/2006/relationships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697978"/>
      </p:ext>
    </p:extLst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xmlns:r="http://schemas.openxmlformats.org/officeDocument/2006/relationships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9833554"/>
      </p:ext>
    </p:extLst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xmlns:r="http://schemas.openxmlformats.org/officeDocument/2006/relationships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8608632"/>
      </p:ext>
    </p:extLst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xmlns:r="http://schemas.openxmlformats.org/officeDocument/2006/relationships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0641021"/>
      </p:ext>
    </p:extLst>
  </p:cSld>
  <p:clrMapOvr>
    <a:masterClrMapping/>
  </p:clrMapOvr>
</p:sldLayout>
</file>

<file path=ppt/slideLayouts/slideLayout12.xml><?xml version="1.0" encoding="utf-8"?>
<p:sldLayout xmlns:p="http://schemas.openxmlformats.org/presentationml/2006/main" xmlns:a="http://schemas.openxmlformats.org/drawingml/2006/main" xmlns:r="http://schemas.openxmlformats.org/officeDocument/2006/relationships" showMasterSp="0" preserve="1">
  <p:cSld name="自定义版式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"/>
          <p:cNvSpPr>
            <a:spLocks noGrp="1"/>
          </p:cNvSpPr>
          <p:nvPr>
            <p:ph type="dt" idx="10"/>
          </p:nvPr>
        </p:nvSpPr>
        <p:spPr>
          <a:xfrm rot="0">
            <a:off x="457200" y="6356349"/>
            <a:ext cx="21336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l"/>
            <a:r>
              <a:rPr lang="en-US" altLang="zh-CN" sz="1200">
                <a:solidFill>
                  <a:srgbClr val="898989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Date/Time</a:t>
            </a:r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8" name="Text box"/>
          <p:cNvSpPr>
            <a:spLocks noGrp="1"/>
          </p:cNvSpPr>
          <p:nvPr>
            <p:ph type="ftr" idx="11"/>
          </p:nvPr>
        </p:nvSpPr>
        <p:spPr>
          <a:xfrm rot="0">
            <a:off x="3124200" y="6356349"/>
            <a:ext cx="28956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ctr"/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9" name="Text box"/>
          <p:cNvSpPr>
            <a:spLocks noGrp="1"/>
          </p:cNvSpPr>
          <p:nvPr>
            <p:ph type="sldNum" idx="12"/>
          </p:nvPr>
        </p:nvSpPr>
        <p:spPr>
          <a:xfrm rot="0">
            <a:off x="6553200" y="6356349"/>
            <a:ext cx="21336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&lt;#&gt;</a:t>
            </a:fld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1924464"/>
      </p:ext>
    </p:extLst>
  </p:cSld>
  <p:clrMapOvr>
    <a:masterClrMapping/>
  </p:clrMapOvr>
  <p:hf sldNum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dt" idx="2"/>
          </p:nvPr>
        </p:nvSpPr>
        <p:spPr>
          <a:xfrm rot="0">
            <a:off x="457200" y="6356349"/>
            <a:ext cx="21336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l"/>
            <a:fld id="{CAD2D6BD-DE1B-4B5F-8B41-2702339687B9}" type="datetime1">
              <a:rPr lang="en-US" altLang="zh-CN" sz="1200">
                <a:solidFill>
                  <a:srgbClr val="898989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9/26/2026</a:t>
            </a:fld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5" name="Text box"/>
          <p:cNvSpPr>
            <a:spLocks noGrp="1"/>
          </p:cNvSpPr>
          <p:nvPr>
            <p:ph type="ftr" idx="3"/>
          </p:nvPr>
        </p:nvSpPr>
        <p:spPr>
          <a:xfrm rot="0">
            <a:off x="3124200" y="6356349"/>
            <a:ext cx="28956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ctr"/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6" name="Text box"/>
          <p:cNvSpPr>
            <a:spLocks noGrp="1"/>
          </p:cNvSpPr>
          <p:nvPr>
            <p:ph type="sldNum" idx="4"/>
          </p:nvPr>
        </p:nvSpPr>
        <p:spPr>
          <a:xfrm rot="0">
            <a:off x="6553200" y="6356349"/>
            <a:ext cx="21336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&lt;#&gt;</a:t>
            </a:fld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0923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lvl1pPr algn="ctr" defTabSz="914400" eaLnBrk="1" fontAlgn="auto" latinLnBrk="0" hangingPunct="1">
        <a:spcBef>
          <a:spcPts val="0"/>
        </a:spcBef>
        <a:buNone/>
        <a:defRPr sz="44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1pPr>
    </p:titleStyle>
    <p:bodyStyle>
      <a:lvl1pPr marL="342900" indent="-342900" algn="l" defTabSz="914400" eaLnBrk="1" fontAlgn="auto" latinLnBrk="0" hangingPunct="1">
        <a:spcBef>
          <a:spcPct val="20000"/>
        </a:spcBef>
        <a:buFont typeface="Arial" pitchFamily="0" charset="0"/>
        <a:buChar char="•"/>
        <a:defRPr sz="32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1pPr>
      <a:lvl2pPr marL="742950" indent="-285750" algn="l" defTabSz="914400" eaLnBrk="1" fontAlgn="auto" latinLnBrk="0" hangingPunct="1">
        <a:spcBef>
          <a:spcPct val="20000"/>
        </a:spcBef>
        <a:buFont typeface="Arial" pitchFamily="0" charset="0"/>
        <a:buChar char="–"/>
        <a:defRPr sz="28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2pPr>
      <a:lvl3pPr marL="1143000" indent="-228600" algn="l" defTabSz="914400" eaLnBrk="1" fontAlgn="auto" latinLnBrk="0" hangingPunct="1">
        <a:spcBef>
          <a:spcPct val="20000"/>
        </a:spcBef>
        <a:buFont typeface="Arial" pitchFamily="0" charset="0"/>
        <a:buChar char="•"/>
        <a:defRPr sz="24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3pPr>
      <a:lvl4pPr marL="1600200" indent="-228600" algn="l" defTabSz="914400" eaLnBrk="1" fontAlgn="auto" latinLnBrk="0" hangingPunct="1">
        <a:spcBef>
          <a:spcPct val="20000"/>
        </a:spcBef>
        <a:buFont typeface="Arial" pitchFamily="0" charset="0"/>
        <a:buChar char="–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4pPr>
      <a:lvl5pPr marL="2057400" indent="-228600" algn="l" defTabSz="914400" eaLnBrk="1" fontAlgn="auto" latinLnBrk="0" hangingPunct="1">
        <a:spcBef>
          <a:spcPct val="20000"/>
        </a:spcBef>
        <a:buFont typeface="Arial" pitchFamily="0" charset="0"/>
        <a:buChar char="»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5pPr>
      <a:lvl6pPr marL="2514600" indent="-228600" algn="l" defTabSz="914400" eaLnBrk="1" fontAlgn="auto" latinLnBrk="0" hangingPunct="1">
        <a:spcBef>
          <a:spcPct val="20000"/>
        </a:spcBef>
        <a:buFont typeface="Arial" pitchFamily="0" charset="0"/>
        <a:buChar char="•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6pPr>
      <a:lvl7pPr marL="2971800" indent="-228600" algn="l" defTabSz="914400" eaLnBrk="1" fontAlgn="auto" latinLnBrk="0" hangingPunct="1">
        <a:spcBef>
          <a:spcPct val="20000"/>
        </a:spcBef>
        <a:buFont typeface="Arial" pitchFamily="0" charset="0"/>
        <a:buChar char="•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7pPr>
      <a:lvl8pPr marL="3429000" indent="-228600" algn="l" defTabSz="914400" eaLnBrk="1" fontAlgn="auto" latinLnBrk="0" hangingPunct="1">
        <a:spcBef>
          <a:spcPct val="20000"/>
        </a:spcBef>
        <a:buFont typeface="Arial" pitchFamily="0" charset="0"/>
        <a:buChar char="•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8pPr>
      <a:lvl9pPr marL="3429000" indent="-228600" algn="l" defTabSz="914400" eaLnBrk="1" fontAlgn="auto" latinLnBrk="0" hangingPunct="1">
        <a:spcBef>
          <a:spcPct val="20000"/>
        </a:spcBef>
        <a:buFont typeface="Arial" pitchFamily="0" charset="0"/>
        <a:buChar char="•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9pPr>
    </p:body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142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/>
          <p:cNvSpPr>
            <a:spLocks/>
          </p:cNvSpPr>
          <p:nvPr/>
        </p:nvSpPr>
        <p:spPr>
          <a:xfrm rot="0">
            <a:off x="640080" y="822960"/>
            <a:ext cx="109728" cy="4480560"/>
          </a:xfrm>
          <a:prstGeom prst="rect"/>
          <a:solidFill>
            <a:srgbClr val="149687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1" name="Rectangle"/>
          <p:cNvSpPr>
            <a:spLocks/>
          </p:cNvSpPr>
          <p:nvPr/>
        </p:nvSpPr>
        <p:spPr>
          <a:xfrm rot="0">
            <a:off x="1051560" y="1005839"/>
            <a:ext cx="6577966" cy="12344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60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FITBUDDY</a:t>
            </a:r>
            <a:endParaRPr lang="en-US" altLang="zh-CN" sz="4600" b="0" i="0" u="none" strike="noStrike" kern="1200" cap="none" spc="0" baseline="0">
              <a:solidFill>
                <a:srgbClr val="FFFFFF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000" b="0" i="0" u="none" strike="noStrike" kern="1200" cap="none" spc="0" baseline="0">
                <a:solidFill>
                  <a:srgbClr val="AAEBE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AI Fitness Plan Generator using Gemini</a:t>
            </a:r>
            <a:endParaRPr lang="zh-CN" altLang="en-US" sz="3000" b="0" i="0" u="none" strike="noStrike" kern="1200" cap="none" spc="0" baseline="0">
              <a:solidFill>
                <a:srgbClr val="AAEBE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2" name="Rectangle"/>
          <p:cNvSpPr>
            <a:spLocks/>
          </p:cNvSpPr>
          <p:nvPr/>
        </p:nvSpPr>
        <p:spPr>
          <a:xfrm rot="0">
            <a:off x="1078992" y="2834640"/>
            <a:ext cx="6877685" cy="7518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A Personalized Fitness &amp; Wellness Recommendation System</a:t>
            </a:r>
            <a:endParaRPr lang="en-US" altLang="zh-CN" sz="2000" b="0" i="0" u="none" strike="noStrike" kern="1200" cap="none" spc="0" baseline="0">
              <a:solidFill>
                <a:srgbClr val="FFFFFF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College Project Presentation</a:t>
            </a:r>
            <a:endParaRPr lang="zh-CN" altLang="en-US" sz="1600" b="0" i="0" u="none" strike="noStrike" kern="1200" cap="none" spc="0" baseline="0">
              <a:solidFill>
                <a:srgbClr val="FFFFFF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3" name="Rectangle"/>
          <p:cNvSpPr>
            <a:spLocks/>
          </p:cNvSpPr>
          <p:nvPr/>
        </p:nvSpPr>
        <p:spPr>
          <a:xfrm rot="0">
            <a:off x="1078992" y="4754880"/>
            <a:ext cx="10052686" cy="31051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Presented by: __Resham kumar v__</a:t>
            </a:r>
            <a:r>
              <a:rPr lang="en-US" altLang="zh-CN" sz="150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and  Team</a:t>
            </a:r>
            <a:r>
              <a:rPr lang="en-US" altLang="zh-CN" sz="150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______________    |    Department: ____2nd BCA shift -2________________</a:t>
            </a:r>
            <a:endParaRPr lang="zh-CN" altLang="en-US" sz="1500" b="0" i="0" u="none" strike="noStrike" kern="1200" cap="none" spc="0" baseline="0">
              <a:solidFill>
                <a:srgbClr val="FFFFFF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4162806"/>
      </p:ext>
    </p:extLst>
  </p:cSld>
  <p:clrMapOvr>
    <a:masterClrMapping/>
  </p:clrMapOvr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"/>
          <p:cNvSpPr>
            <a:spLocks/>
          </p:cNvSpPr>
          <p:nvPr/>
        </p:nvSpPr>
        <p:spPr>
          <a:xfrm rot="0">
            <a:off x="0" y="0"/>
            <a:ext cx="12191694" cy="164592"/>
          </a:xfrm>
          <a:prstGeom prst="rect"/>
          <a:solidFill>
            <a:srgbClr val="149687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5" name="Rectangle"/>
          <p:cNvSpPr>
            <a:spLocks/>
          </p:cNvSpPr>
          <p:nvPr/>
        </p:nvSpPr>
        <p:spPr>
          <a:xfrm rot="0">
            <a:off x="594360" y="384048"/>
            <a:ext cx="2340229" cy="5200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rgbClr val="142337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1. Introduction</a:t>
            </a:r>
            <a:endParaRPr lang="zh-CN" altLang="en-US" sz="2800" b="0" i="0" u="none" strike="noStrike" kern="1200" cap="none" spc="0" baseline="0">
              <a:solidFill>
                <a:srgbClr val="142337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6" name="Rectangle"/>
          <p:cNvSpPr>
            <a:spLocks/>
          </p:cNvSpPr>
          <p:nvPr/>
        </p:nvSpPr>
        <p:spPr>
          <a:xfrm rot="0">
            <a:off x="777240" y="1325880"/>
            <a:ext cx="10607040" cy="25393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FitBuddy is an AI-powered fitness plan generator designed to create personalized workout and nutrition guidance.</a:t>
            </a:r>
            <a:endParaRPr lang="en-US" altLang="zh-CN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It uses user inputs such as age, gender, fitness goal, activity level, available equipment, dietary preference and experience.</a:t>
            </a:r>
            <a:endParaRPr lang="en-US" altLang="zh-CN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Gemini is used to understand the profile and generate structured, easy-to-follow recommendations.</a:t>
            </a:r>
            <a:endParaRPr lang="en-US" altLang="zh-CN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The system aims to make fitness planning simple, accessible and personalized.</a:t>
            </a:r>
            <a:endParaRPr lang="zh-CN" altLang="en-US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7" name="Rectangle"/>
          <p:cNvSpPr>
            <a:spLocks/>
          </p:cNvSpPr>
          <p:nvPr/>
        </p:nvSpPr>
        <p:spPr>
          <a:xfrm rot="0">
            <a:off x="11358753" y="6473951"/>
            <a:ext cx="254127" cy="2152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646E73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2</a:t>
            </a:r>
            <a:endParaRPr lang="zh-CN" altLang="en-US" sz="900" b="0" i="0" u="none" strike="noStrike" kern="1200" cap="none" spc="0" baseline="0">
              <a:solidFill>
                <a:srgbClr val="646E73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6152207"/>
      </p:ext>
    </p:extLst>
  </p:cSld>
  <p:clrMapOvr>
    <a:masterClrMapping/>
  </p:clrMapOvr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"/>
          <p:cNvSpPr>
            <a:spLocks/>
          </p:cNvSpPr>
          <p:nvPr/>
        </p:nvSpPr>
        <p:spPr>
          <a:xfrm rot="0">
            <a:off x="0" y="0"/>
            <a:ext cx="12191694" cy="164592"/>
          </a:xfrm>
          <a:prstGeom prst="rect"/>
          <a:solidFill>
            <a:srgbClr val="149687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9" name="Rectangle"/>
          <p:cNvSpPr>
            <a:spLocks/>
          </p:cNvSpPr>
          <p:nvPr/>
        </p:nvSpPr>
        <p:spPr>
          <a:xfrm rot="0">
            <a:off x="594360" y="384048"/>
            <a:ext cx="3535044" cy="5200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rgbClr val="142337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2. Problem Statement</a:t>
            </a:r>
            <a:endParaRPr lang="zh-CN" altLang="en-US" sz="2800" b="0" i="0" u="none" strike="noStrike" kern="1200" cap="none" spc="0" baseline="0">
              <a:solidFill>
                <a:srgbClr val="142337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0" name="Rectangle"/>
          <p:cNvSpPr>
            <a:spLocks/>
          </p:cNvSpPr>
          <p:nvPr/>
        </p:nvSpPr>
        <p:spPr>
          <a:xfrm rot="0">
            <a:off x="777240" y="1325880"/>
            <a:ext cx="10607040" cy="25393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Generic fitness plans do not always match an individual's goals, experience, schedule or available equipment.</a:t>
            </a:r>
            <a:endParaRPr lang="en-US" altLang="zh-CN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Beginners may find it difficult to choose suitable exercises and organize a weekly routine.</a:t>
            </a:r>
            <a:endParaRPr lang="en-US" altLang="zh-CN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Nutrition advice can be confusing when dietary preferences and practical constraints are not considered.</a:t>
            </a:r>
            <a:endParaRPr lang="en-US" altLang="zh-CN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FitBuddy addresses these issues by generating a personalized plan from structured user information.</a:t>
            </a:r>
            <a:endParaRPr lang="zh-CN" altLang="en-US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1" name="Rectangle"/>
          <p:cNvSpPr>
            <a:spLocks/>
          </p:cNvSpPr>
          <p:nvPr/>
        </p:nvSpPr>
        <p:spPr>
          <a:xfrm rot="0">
            <a:off x="11356467" y="6473951"/>
            <a:ext cx="256413" cy="2152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646E73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3</a:t>
            </a:r>
            <a:endParaRPr lang="zh-CN" altLang="en-US" sz="900" b="0" i="0" u="none" strike="noStrike" kern="1200" cap="none" spc="0" baseline="0">
              <a:solidFill>
                <a:srgbClr val="646E73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1788256"/>
      </p:ext>
    </p:extLst>
  </p:cSld>
  <p:clrMapOvr>
    <a:masterClrMapping/>
  </p:clrMapOvr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"/>
          <p:cNvSpPr>
            <a:spLocks/>
          </p:cNvSpPr>
          <p:nvPr/>
        </p:nvSpPr>
        <p:spPr>
          <a:xfrm rot="0">
            <a:off x="0" y="0"/>
            <a:ext cx="12191694" cy="164592"/>
          </a:xfrm>
          <a:prstGeom prst="rect"/>
          <a:solidFill>
            <a:srgbClr val="149687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3" name="Rectangle"/>
          <p:cNvSpPr>
            <a:spLocks/>
          </p:cNvSpPr>
          <p:nvPr/>
        </p:nvSpPr>
        <p:spPr>
          <a:xfrm rot="0">
            <a:off x="594360" y="384048"/>
            <a:ext cx="2197988" cy="5200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rgbClr val="142337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3. Objectives</a:t>
            </a:r>
            <a:endParaRPr lang="zh-CN" altLang="en-US" sz="2800" b="0" i="0" u="none" strike="noStrike" kern="1200" cap="none" spc="0" baseline="0">
              <a:solidFill>
                <a:srgbClr val="142337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4" name="Rectangle"/>
          <p:cNvSpPr>
            <a:spLocks/>
          </p:cNvSpPr>
          <p:nvPr/>
        </p:nvSpPr>
        <p:spPr>
          <a:xfrm rot="0">
            <a:off x="777240" y="1325880"/>
            <a:ext cx="10607040" cy="27933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Collect relevant user fitness information through a simple interface.</a:t>
            </a:r>
            <a:endParaRPr lang="en-US" altLang="zh-CN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Generate personalized workout plans using Gemini.</a:t>
            </a:r>
            <a:endParaRPr lang="en-US" altLang="zh-CN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Generate practical nutrition and hydration suggestions based on the user's stated preferences.</a:t>
            </a:r>
            <a:endParaRPr lang="en-US" altLang="zh-CN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Present the plan in a clear weekly format.</a:t>
            </a:r>
            <a:endParaRPr lang="en-US" altLang="zh-CN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Allow users to review or regenerate recommendations.</a:t>
            </a:r>
            <a:endParaRPr lang="en-US" altLang="zh-CN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Promote safe, general wellness guidance rather than replacing professional medical or fitness advice.</a:t>
            </a:r>
            <a:endParaRPr lang="zh-CN" altLang="en-US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5" name="Rectangle"/>
          <p:cNvSpPr>
            <a:spLocks/>
          </p:cNvSpPr>
          <p:nvPr/>
        </p:nvSpPr>
        <p:spPr>
          <a:xfrm rot="0">
            <a:off x="11349609" y="6473951"/>
            <a:ext cx="263269" cy="2152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646E73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4</a:t>
            </a:r>
            <a:endParaRPr lang="zh-CN" altLang="en-US" sz="900" b="0" i="0" u="none" strike="noStrike" kern="1200" cap="none" spc="0" baseline="0">
              <a:solidFill>
                <a:srgbClr val="646E73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1724862"/>
      </p:ext>
    </p:extLst>
  </p:cSld>
  <p:clrMapOvr>
    <a:masterClrMapping/>
  </p:clrMapOvr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"/>
          <p:cNvSpPr>
            <a:spLocks/>
          </p:cNvSpPr>
          <p:nvPr/>
        </p:nvSpPr>
        <p:spPr>
          <a:xfrm rot="0">
            <a:off x="0" y="0"/>
            <a:ext cx="12191694" cy="164592"/>
          </a:xfrm>
          <a:prstGeom prst="rect"/>
          <a:solidFill>
            <a:srgbClr val="149687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7" name="Rectangle"/>
          <p:cNvSpPr>
            <a:spLocks/>
          </p:cNvSpPr>
          <p:nvPr/>
        </p:nvSpPr>
        <p:spPr>
          <a:xfrm rot="0">
            <a:off x="594360" y="384048"/>
            <a:ext cx="3314572" cy="5200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rgbClr val="142337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4. Proposed System</a:t>
            </a:r>
            <a:endParaRPr lang="zh-CN" altLang="en-US" sz="2800" b="0" i="0" u="none" strike="noStrike" kern="1200" cap="none" spc="0" baseline="0">
              <a:solidFill>
                <a:srgbClr val="142337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8" name="Rounded rectangle"/>
          <p:cNvSpPr>
            <a:spLocks/>
          </p:cNvSpPr>
          <p:nvPr/>
        </p:nvSpPr>
        <p:spPr>
          <a:xfrm rot="0">
            <a:off x="502919" y="1828800"/>
            <a:ext cx="2514600" cy="2286000"/>
          </a:xfrm>
          <a:prstGeom prst="roundRect">
            <a:avLst>
              <a:gd name="adj" fmla="val 16666"/>
            </a:avLst>
          </a:prstGeom>
          <a:solidFill>
            <a:srgbClr val="F2F7F6"/>
          </a:solidFill>
          <a:ln w="9525" cmpd="sng" cap="flat">
            <a:solidFill>
              <a:srgbClr val="149687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9" name="Rectangle"/>
          <p:cNvSpPr>
            <a:spLocks/>
          </p:cNvSpPr>
          <p:nvPr/>
        </p:nvSpPr>
        <p:spPr>
          <a:xfrm rot="0">
            <a:off x="921067" y="2103120"/>
            <a:ext cx="1687448" cy="3581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142337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USER PROFILE</a:t>
            </a:r>
            <a:endParaRPr lang="zh-CN" altLang="en-US" sz="1800" b="0" i="0" u="none" strike="noStrike" kern="1200" cap="none" spc="0" baseline="0">
              <a:solidFill>
                <a:srgbClr val="142337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30" name="Rectangle"/>
          <p:cNvSpPr>
            <a:spLocks/>
          </p:cNvSpPr>
          <p:nvPr/>
        </p:nvSpPr>
        <p:spPr>
          <a:xfrm rot="0">
            <a:off x="455485" y="2880360"/>
            <a:ext cx="2609468" cy="2819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Age • Goal • Activity • Experience</a:t>
            </a:r>
            <a:endParaRPr lang="zh-CN" altLang="en-US" sz="13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31" name="Rounded rectangle"/>
          <p:cNvSpPr>
            <a:spLocks/>
          </p:cNvSpPr>
          <p:nvPr/>
        </p:nvSpPr>
        <p:spPr>
          <a:xfrm rot="0">
            <a:off x="3410712" y="1828800"/>
            <a:ext cx="2514598" cy="2286000"/>
          </a:xfrm>
          <a:prstGeom prst="roundRect">
            <a:avLst>
              <a:gd name="adj" fmla="val 16666"/>
            </a:avLst>
          </a:prstGeom>
          <a:solidFill>
            <a:srgbClr val="F2F7F6"/>
          </a:solidFill>
          <a:ln w="9525" cmpd="sng" cap="flat">
            <a:solidFill>
              <a:srgbClr val="149687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2" name="Rectangle"/>
          <p:cNvSpPr>
            <a:spLocks/>
          </p:cNvSpPr>
          <p:nvPr/>
        </p:nvSpPr>
        <p:spPr>
          <a:xfrm rot="0">
            <a:off x="4052887" y="2103120"/>
            <a:ext cx="1239392" cy="3581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142337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AI ENGINE</a:t>
            </a:r>
            <a:endParaRPr lang="zh-CN" altLang="en-US" sz="1800" b="0" i="0" u="none" strike="noStrike" kern="1200" cap="none" spc="0" baseline="0">
              <a:solidFill>
                <a:srgbClr val="142337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33" name="Rectangle"/>
          <p:cNvSpPr>
            <a:spLocks/>
          </p:cNvSpPr>
          <p:nvPr/>
        </p:nvSpPr>
        <p:spPr>
          <a:xfrm rot="0">
            <a:off x="3262565" y="2880360"/>
            <a:ext cx="2810889" cy="2819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Gemini understands profile + prompt</a:t>
            </a:r>
            <a:endParaRPr lang="zh-CN" altLang="en-US" sz="13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34" name="Rounded rectangle"/>
          <p:cNvSpPr>
            <a:spLocks/>
          </p:cNvSpPr>
          <p:nvPr/>
        </p:nvSpPr>
        <p:spPr>
          <a:xfrm rot="0">
            <a:off x="6318504" y="1828800"/>
            <a:ext cx="2514600" cy="2286000"/>
          </a:xfrm>
          <a:prstGeom prst="roundRect">
            <a:avLst>
              <a:gd name="adj" fmla="val 16666"/>
            </a:avLst>
          </a:prstGeom>
          <a:solidFill>
            <a:srgbClr val="F2F7F6"/>
          </a:solidFill>
          <a:ln w="9525" cmpd="sng" cap="flat">
            <a:solidFill>
              <a:srgbClr val="149687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5" name="Rectangle"/>
          <p:cNvSpPr>
            <a:spLocks/>
          </p:cNvSpPr>
          <p:nvPr/>
        </p:nvSpPr>
        <p:spPr>
          <a:xfrm rot="0">
            <a:off x="6501192" y="2103120"/>
            <a:ext cx="2158365" cy="3581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142337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PLAN GENERATOR</a:t>
            </a:r>
            <a:endParaRPr lang="zh-CN" altLang="en-US" sz="1800" b="0" i="0" u="none" strike="noStrike" kern="1200" cap="none" spc="0" baseline="0">
              <a:solidFill>
                <a:srgbClr val="142337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36" name="Rectangle"/>
          <p:cNvSpPr>
            <a:spLocks/>
          </p:cNvSpPr>
          <p:nvPr/>
        </p:nvSpPr>
        <p:spPr>
          <a:xfrm rot="0">
            <a:off x="6380036" y="2880360"/>
            <a:ext cx="2391536" cy="2819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Workout + nutrition + recovery</a:t>
            </a:r>
            <a:endParaRPr lang="zh-CN" altLang="en-US" sz="13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37" name="Rounded rectangle"/>
          <p:cNvSpPr>
            <a:spLocks/>
          </p:cNvSpPr>
          <p:nvPr/>
        </p:nvSpPr>
        <p:spPr>
          <a:xfrm rot="0">
            <a:off x="9226296" y="1828800"/>
            <a:ext cx="2514599" cy="2286000"/>
          </a:xfrm>
          <a:prstGeom prst="roundRect">
            <a:avLst>
              <a:gd name="adj" fmla="val 16666"/>
            </a:avLst>
          </a:prstGeom>
          <a:solidFill>
            <a:srgbClr val="F2F7F6"/>
          </a:solidFill>
          <a:ln w="9525" cmpd="sng" cap="flat">
            <a:solidFill>
              <a:srgbClr val="149687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8" name="Rectangle"/>
          <p:cNvSpPr>
            <a:spLocks/>
          </p:cNvSpPr>
          <p:nvPr/>
        </p:nvSpPr>
        <p:spPr>
          <a:xfrm rot="0">
            <a:off x="9943910" y="2103120"/>
            <a:ext cx="1088517" cy="3581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142337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OUTPUT</a:t>
            </a:r>
            <a:endParaRPr lang="zh-CN" altLang="en-US" sz="1800" b="0" i="0" u="none" strike="noStrike" kern="1200" cap="none" spc="0" baseline="0">
              <a:solidFill>
                <a:srgbClr val="142337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39" name="Rectangle"/>
          <p:cNvSpPr>
            <a:spLocks/>
          </p:cNvSpPr>
          <p:nvPr/>
        </p:nvSpPr>
        <p:spPr>
          <a:xfrm rot="0">
            <a:off x="9231693" y="2880360"/>
            <a:ext cx="2503803" cy="2819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Personalized weekly fitness plan</a:t>
            </a:r>
            <a:endParaRPr lang="zh-CN" altLang="en-US" sz="13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40" name="Rectangle"/>
          <p:cNvSpPr>
            <a:spLocks/>
          </p:cNvSpPr>
          <p:nvPr/>
        </p:nvSpPr>
        <p:spPr>
          <a:xfrm rot="0">
            <a:off x="11354181" y="6473951"/>
            <a:ext cx="258697" cy="2152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646E73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5</a:t>
            </a:r>
            <a:endParaRPr lang="zh-CN" altLang="en-US" sz="900" b="0" i="0" u="none" strike="noStrike" kern="1200" cap="none" spc="0" baseline="0">
              <a:solidFill>
                <a:srgbClr val="646E73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3941107"/>
      </p:ext>
    </p:extLst>
  </p:cSld>
  <p:clrMapOvr>
    <a:masterClrMapping/>
  </p:clrMapOvr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"/>
          <p:cNvSpPr>
            <a:spLocks/>
          </p:cNvSpPr>
          <p:nvPr/>
        </p:nvSpPr>
        <p:spPr>
          <a:xfrm rot="0">
            <a:off x="0" y="0"/>
            <a:ext cx="12191694" cy="164592"/>
          </a:xfrm>
          <a:prstGeom prst="rect"/>
          <a:solidFill>
            <a:srgbClr val="149687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2" name="Rectangle"/>
          <p:cNvSpPr>
            <a:spLocks/>
          </p:cNvSpPr>
          <p:nvPr/>
        </p:nvSpPr>
        <p:spPr>
          <a:xfrm rot="0">
            <a:off x="594360" y="384048"/>
            <a:ext cx="2560700" cy="5200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rgbClr val="142337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5. Key Modules</a:t>
            </a:r>
            <a:endParaRPr lang="zh-CN" altLang="en-US" sz="2800" b="0" i="0" u="none" strike="noStrike" kern="1200" cap="none" spc="0" baseline="0">
              <a:solidFill>
                <a:srgbClr val="142337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43" name="Rectangle"/>
          <p:cNvSpPr>
            <a:spLocks/>
          </p:cNvSpPr>
          <p:nvPr/>
        </p:nvSpPr>
        <p:spPr>
          <a:xfrm rot="0">
            <a:off x="777240" y="1325880"/>
            <a:ext cx="10607040" cy="380619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User Registration / Profile Module – stores basic profile and fitness preferences.</a:t>
            </a:r>
            <a:endParaRPr lang="en-US" altLang="zh-CN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Fitness Assessment Module – captures goal, activity level, experience, equipment and schedule.</a:t>
            </a:r>
            <a:endParaRPr lang="en-US" altLang="zh-CN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Gemini AI Module – converts profile data into a structured personalized plan.</a:t>
            </a:r>
            <a:endParaRPr lang="en-US" altLang="zh-CN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Workout Module – organizes exercises, sets/repetitions or duration and rest guidance.</a:t>
            </a:r>
            <a:endParaRPr lang="en-US" altLang="zh-CN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Nutrition Module – generates general meal and hydration suggestions aligned with stated preferences.</a:t>
            </a:r>
            <a:endParaRPr lang="en-US" altLang="zh-CN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Plan History Module – stores generated plans so the user can review previous recommendations.</a:t>
            </a:r>
            <a:endParaRPr lang="en-US" altLang="zh-CN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Feedback Module – lets users rate or comment on usefulness for future improvement.</a:t>
            </a:r>
            <a:endParaRPr lang="zh-CN" altLang="en-US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44" name="Rectangle"/>
          <p:cNvSpPr>
            <a:spLocks/>
          </p:cNvSpPr>
          <p:nvPr/>
        </p:nvSpPr>
        <p:spPr>
          <a:xfrm rot="0">
            <a:off x="11351896" y="6473951"/>
            <a:ext cx="260983" cy="2152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646E73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6</a:t>
            </a:r>
            <a:endParaRPr lang="zh-CN" altLang="en-US" sz="900" b="0" i="0" u="none" strike="noStrike" kern="1200" cap="none" spc="0" baseline="0">
              <a:solidFill>
                <a:srgbClr val="646E73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858404"/>
      </p:ext>
    </p:extLst>
  </p:cSld>
  <p:clrMapOvr>
    <a:masterClrMapping/>
  </p:clrMapOvr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"/>
          <p:cNvSpPr>
            <a:spLocks/>
          </p:cNvSpPr>
          <p:nvPr/>
        </p:nvSpPr>
        <p:spPr>
          <a:xfrm rot="0">
            <a:off x="0" y="0"/>
            <a:ext cx="12191694" cy="164592"/>
          </a:xfrm>
          <a:prstGeom prst="rect"/>
          <a:solidFill>
            <a:srgbClr val="149687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6" name="Rectangle"/>
          <p:cNvSpPr>
            <a:spLocks/>
          </p:cNvSpPr>
          <p:nvPr/>
        </p:nvSpPr>
        <p:spPr>
          <a:xfrm rot="0">
            <a:off x="594360" y="384048"/>
            <a:ext cx="3769740" cy="5200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rgbClr val="142337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6. Gemini AI Integration</a:t>
            </a:r>
            <a:endParaRPr lang="zh-CN" altLang="en-US" sz="2800" b="0" i="0" u="none" strike="noStrike" kern="1200" cap="none" spc="0" baseline="0">
              <a:solidFill>
                <a:srgbClr val="142337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47" name="Rectangle"/>
          <p:cNvSpPr>
            <a:spLocks/>
          </p:cNvSpPr>
          <p:nvPr/>
        </p:nvSpPr>
        <p:spPr>
          <a:xfrm rot="0">
            <a:off x="777240" y="1325880"/>
            <a:ext cx="10607040" cy="3088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Input: validated user profile and fitness requirements.</a:t>
            </a:r>
            <a:endParaRPr lang="en-US" altLang="zh-CN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Prompt layer: instructs Gemini to return a safe, structured and personalized fitness plan.</a:t>
            </a:r>
            <a:endParaRPr lang="en-US" altLang="zh-CN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Gemini processing: interprets the profile and creates recommendations in a predictable format.</a:t>
            </a:r>
            <a:endParaRPr lang="en-US" altLang="zh-CN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Output parser: converts the response into sections such as weekly workout, nutrition, recovery and notes.</a:t>
            </a:r>
            <a:endParaRPr lang="en-US" altLang="zh-CN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Validation: checks required sections and displays a fallback message if generation fails.</a:t>
            </a:r>
            <a:endParaRPr lang="en-US" altLang="zh-CN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Important: the application should avoid diagnosing medical conditions or presenting medical advice as professional care.</a:t>
            </a:r>
            <a:endParaRPr lang="zh-CN" altLang="en-US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48" name="Rectangle"/>
          <p:cNvSpPr>
            <a:spLocks/>
          </p:cNvSpPr>
          <p:nvPr/>
        </p:nvSpPr>
        <p:spPr>
          <a:xfrm rot="0">
            <a:off x="11358753" y="6473951"/>
            <a:ext cx="254127" cy="2152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646E73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7</a:t>
            </a:r>
            <a:endParaRPr lang="zh-CN" altLang="en-US" sz="900" b="0" i="0" u="none" strike="noStrike" kern="1200" cap="none" spc="0" baseline="0">
              <a:solidFill>
                <a:srgbClr val="646E73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6996471"/>
      </p:ext>
    </p:extLst>
  </p:cSld>
  <p:clrMapOvr>
    <a:masterClrMapping/>
  </p:clrMapOvr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"/>
          <p:cNvSpPr>
            <a:spLocks/>
          </p:cNvSpPr>
          <p:nvPr/>
        </p:nvSpPr>
        <p:spPr>
          <a:xfrm rot="0">
            <a:off x="0" y="0"/>
            <a:ext cx="12191694" cy="164592"/>
          </a:xfrm>
          <a:prstGeom prst="rect"/>
          <a:solidFill>
            <a:srgbClr val="149687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0" name="Rectangle"/>
          <p:cNvSpPr>
            <a:spLocks/>
          </p:cNvSpPr>
          <p:nvPr/>
        </p:nvSpPr>
        <p:spPr>
          <a:xfrm rot="0">
            <a:off x="594360" y="384048"/>
            <a:ext cx="3705733" cy="5200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rgbClr val="142337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7. System Architecture</a:t>
            </a:r>
            <a:endParaRPr lang="zh-CN" altLang="en-US" sz="2800" b="0" i="0" u="none" strike="noStrike" kern="1200" cap="none" spc="0" baseline="0">
              <a:solidFill>
                <a:srgbClr val="142337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51" name="Rounded rectangle"/>
          <p:cNvSpPr>
            <a:spLocks/>
          </p:cNvSpPr>
          <p:nvPr/>
        </p:nvSpPr>
        <p:spPr>
          <a:xfrm rot="0">
            <a:off x="1005839" y="1325880"/>
            <a:ext cx="10058401" cy="621790"/>
          </a:xfrm>
          <a:prstGeom prst="roundRect">
            <a:avLst>
              <a:gd name="adj" fmla="val 16666"/>
            </a:avLst>
          </a:prstGeom>
          <a:solidFill>
            <a:srgbClr val="F2F7F6"/>
          </a:solidFill>
          <a:ln w="9525" cmpd="sng" cap="flat">
            <a:solidFill>
              <a:srgbClr val="149687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2" name="Rectangle"/>
          <p:cNvSpPr>
            <a:spLocks/>
          </p:cNvSpPr>
          <p:nvPr/>
        </p:nvSpPr>
        <p:spPr>
          <a:xfrm rot="0">
            <a:off x="1234440" y="1435607"/>
            <a:ext cx="1047367" cy="34861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142337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Frontend</a:t>
            </a:r>
            <a:endParaRPr lang="zh-CN" altLang="en-US" sz="1700" b="0" i="0" u="none" strike="noStrike" kern="1200" cap="none" spc="0" baseline="0">
              <a:solidFill>
                <a:srgbClr val="142337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53" name="Rectangle"/>
          <p:cNvSpPr>
            <a:spLocks/>
          </p:cNvSpPr>
          <p:nvPr/>
        </p:nvSpPr>
        <p:spPr>
          <a:xfrm rot="0">
            <a:off x="3200400" y="1435607"/>
            <a:ext cx="3769995" cy="31051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HTML • CSS • JavaScript / React (optional)</a:t>
            </a:r>
            <a:endParaRPr lang="zh-CN" altLang="en-US" sz="15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54" name="Rounded rectangle"/>
          <p:cNvSpPr>
            <a:spLocks/>
          </p:cNvSpPr>
          <p:nvPr/>
        </p:nvSpPr>
        <p:spPr>
          <a:xfrm rot="0">
            <a:off x="1005839" y="2221991"/>
            <a:ext cx="10058401" cy="621792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 cmpd="sng" cap="flat">
            <a:solidFill>
              <a:srgbClr val="149687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5" name="Rectangle"/>
          <p:cNvSpPr>
            <a:spLocks/>
          </p:cNvSpPr>
          <p:nvPr/>
        </p:nvSpPr>
        <p:spPr>
          <a:xfrm rot="0">
            <a:off x="1234440" y="2331720"/>
            <a:ext cx="1008506" cy="34861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142337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Backend</a:t>
            </a:r>
            <a:endParaRPr lang="zh-CN" altLang="en-US" sz="1700" b="0" i="0" u="none" strike="noStrike" kern="1200" cap="none" spc="0" baseline="0">
              <a:solidFill>
                <a:srgbClr val="142337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56" name="Rectangle"/>
          <p:cNvSpPr>
            <a:spLocks/>
          </p:cNvSpPr>
          <p:nvPr/>
        </p:nvSpPr>
        <p:spPr>
          <a:xfrm rot="0">
            <a:off x="3200400" y="2331720"/>
            <a:ext cx="2356484" cy="31051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Python Flask / Node.js API</a:t>
            </a:r>
            <a:endParaRPr lang="zh-CN" altLang="en-US" sz="15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57" name="Rounded rectangle"/>
          <p:cNvSpPr>
            <a:spLocks/>
          </p:cNvSpPr>
          <p:nvPr/>
        </p:nvSpPr>
        <p:spPr>
          <a:xfrm rot="0">
            <a:off x="1005839" y="3118104"/>
            <a:ext cx="10058401" cy="621792"/>
          </a:xfrm>
          <a:prstGeom prst="roundRect">
            <a:avLst>
              <a:gd name="adj" fmla="val 16666"/>
            </a:avLst>
          </a:prstGeom>
          <a:solidFill>
            <a:srgbClr val="F2F7F6"/>
          </a:solidFill>
          <a:ln w="9525" cmpd="sng" cap="flat">
            <a:solidFill>
              <a:srgbClr val="149687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8" name="Rectangle"/>
          <p:cNvSpPr>
            <a:spLocks/>
          </p:cNvSpPr>
          <p:nvPr/>
        </p:nvSpPr>
        <p:spPr>
          <a:xfrm rot="0">
            <a:off x="1234440" y="3227832"/>
            <a:ext cx="956689" cy="34861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142337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AI Layer</a:t>
            </a:r>
            <a:endParaRPr lang="zh-CN" altLang="en-US" sz="1700" b="0" i="0" u="none" strike="noStrike" kern="1200" cap="none" spc="0" baseline="0">
              <a:solidFill>
                <a:srgbClr val="142337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59" name="Rectangle"/>
          <p:cNvSpPr>
            <a:spLocks/>
          </p:cNvSpPr>
          <p:nvPr/>
        </p:nvSpPr>
        <p:spPr>
          <a:xfrm rot="0">
            <a:off x="3200400" y="3227832"/>
            <a:ext cx="1099184" cy="31051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Gemini API</a:t>
            </a:r>
            <a:endParaRPr lang="zh-CN" altLang="en-US" sz="15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60" name="Rounded rectangle"/>
          <p:cNvSpPr>
            <a:spLocks/>
          </p:cNvSpPr>
          <p:nvPr/>
        </p:nvSpPr>
        <p:spPr>
          <a:xfrm rot="0">
            <a:off x="1005839" y="4014214"/>
            <a:ext cx="10058401" cy="621792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 cmpd="sng" cap="flat">
            <a:solidFill>
              <a:srgbClr val="149687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61" name="Rectangle"/>
          <p:cNvSpPr>
            <a:spLocks/>
          </p:cNvSpPr>
          <p:nvPr/>
        </p:nvSpPr>
        <p:spPr>
          <a:xfrm rot="0">
            <a:off x="1234440" y="4123943"/>
            <a:ext cx="1211452" cy="34861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142337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Data Layer</a:t>
            </a:r>
            <a:endParaRPr lang="zh-CN" altLang="en-US" sz="1700" b="0" i="0" u="none" strike="noStrike" kern="1200" cap="none" spc="0" baseline="0">
              <a:solidFill>
                <a:srgbClr val="142337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62" name="Rectangle"/>
          <p:cNvSpPr>
            <a:spLocks/>
          </p:cNvSpPr>
          <p:nvPr/>
        </p:nvSpPr>
        <p:spPr>
          <a:xfrm rot="0">
            <a:off x="3200400" y="4123943"/>
            <a:ext cx="2390774" cy="31051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MySQL / SQLite / Firebase</a:t>
            </a:r>
            <a:endParaRPr lang="zh-CN" altLang="en-US" sz="15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63" name="Rounded rectangle"/>
          <p:cNvSpPr>
            <a:spLocks/>
          </p:cNvSpPr>
          <p:nvPr/>
        </p:nvSpPr>
        <p:spPr>
          <a:xfrm rot="0">
            <a:off x="1005839" y="4910328"/>
            <a:ext cx="10058401" cy="621792"/>
          </a:xfrm>
          <a:prstGeom prst="roundRect">
            <a:avLst>
              <a:gd name="adj" fmla="val 16666"/>
            </a:avLst>
          </a:prstGeom>
          <a:solidFill>
            <a:srgbClr val="F2F7F6"/>
          </a:solidFill>
          <a:ln w="9525" cmpd="sng" cap="flat">
            <a:solidFill>
              <a:srgbClr val="149687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64" name="Rectangle"/>
          <p:cNvSpPr>
            <a:spLocks/>
          </p:cNvSpPr>
          <p:nvPr/>
        </p:nvSpPr>
        <p:spPr>
          <a:xfrm rot="0">
            <a:off x="1234440" y="5020056"/>
            <a:ext cx="632839" cy="34861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142337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User</a:t>
            </a:r>
            <a:endParaRPr lang="zh-CN" altLang="en-US" sz="1700" b="0" i="0" u="none" strike="noStrike" kern="1200" cap="none" spc="0" baseline="0">
              <a:solidFill>
                <a:srgbClr val="142337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65" name="Rectangle"/>
          <p:cNvSpPr>
            <a:spLocks/>
          </p:cNvSpPr>
          <p:nvPr/>
        </p:nvSpPr>
        <p:spPr>
          <a:xfrm rot="0">
            <a:off x="3200400" y="5020056"/>
            <a:ext cx="2146935" cy="31051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Mobile or Web Browser</a:t>
            </a:r>
            <a:endParaRPr lang="zh-CN" altLang="en-US" sz="15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66" name="Rectangle"/>
          <p:cNvSpPr>
            <a:spLocks/>
          </p:cNvSpPr>
          <p:nvPr/>
        </p:nvSpPr>
        <p:spPr>
          <a:xfrm rot="0">
            <a:off x="11354181" y="6473951"/>
            <a:ext cx="258697" cy="2152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646E73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8</a:t>
            </a:r>
            <a:endParaRPr lang="zh-CN" altLang="en-US" sz="900" b="0" i="0" u="none" strike="noStrike" kern="1200" cap="none" spc="0" baseline="0">
              <a:solidFill>
                <a:srgbClr val="646E73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206522"/>
      </p:ext>
    </p:extLst>
  </p:cSld>
  <p:clrMapOvr>
    <a:masterClrMapping/>
  </p:clrMapOvr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"/>
          <p:cNvSpPr>
            <a:spLocks/>
          </p:cNvSpPr>
          <p:nvPr/>
        </p:nvSpPr>
        <p:spPr>
          <a:xfrm rot="0">
            <a:off x="0" y="0"/>
            <a:ext cx="12191694" cy="164592"/>
          </a:xfrm>
          <a:prstGeom prst="rect"/>
          <a:solidFill>
            <a:srgbClr val="149687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68" name="Rectangle"/>
          <p:cNvSpPr>
            <a:spLocks/>
          </p:cNvSpPr>
          <p:nvPr/>
        </p:nvSpPr>
        <p:spPr>
          <a:xfrm rot="0">
            <a:off x="594360" y="384048"/>
            <a:ext cx="3926204" cy="5200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rgbClr val="142337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8. Workflow / Data Flow</a:t>
            </a:r>
            <a:endParaRPr lang="zh-CN" altLang="en-US" sz="2800" b="0" i="0" u="none" strike="noStrike" kern="1200" cap="none" spc="0" baseline="0">
              <a:solidFill>
                <a:srgbClr val="142337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69" name="Rectangle"/>
          <p:cNvSpPr>
            <a:spLocks/>
          </p:cNvSpPr>
          <p:nvPr/>
        </p:nvSpPr>
        <p:spPr>
          <a:xfrm rot="0">
            <a:off x="777240" y="1325880"/>
            <a:ext cx="10607040" cy="29203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Step 1 → User enters profile and fitness preferences.</a:t>
            </a:r>
            <a:endParaRPr lang="en-US" altLang="zh-CN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Step 2 → Frontend validates required fields.</a:t>
            </a:r>
            <a:endParaRPr lang="en-US" altLang="zh-CN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Step 3 → Backend builds a structured prompt from the validated profile.</a:t>
            </a:r>
            <a:endParaRPr lang="en-US" altLang="zh-CN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Step 4 → Backend sends the prompt to Gemini through the API.</a:t>
            </a:r>
            <a:endParaRPr lang="en-US" altLang="zh-CN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Step 5 → Gemini returns the personalized plan.</a:t>
            </a:r>
            <a:endParaRPr lang="en-US" altLang="zh-CN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Step 6 → Backend validates/parses the response and stores it.</a:t>
            </a:r>
            <a:endParaRPr lang="en-US" altLang="zh-CN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Step 7 → User views the weekly plan and can regenerate or save it.</a:t>
            </a:r>
            <a:endParaRPr lang="zh-CN" altLang="en-US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70" name="Rectangle"/>
          <p:cNvSpPr>
            <a:spLocks/>
          </p:cNvSpPr>
          <p:nvPr/>
        </p:nvSpPr>
        <p:spPr>
          <a:xfrm rot="0">
            <a:off x="11351896" y="6473951"/>
            <a:ext cx="260983" cy="2152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646E73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9</a:t>
            </a:r>
            <a:endParaRPr lang="zh-CN" altLang="en-US" sz="900" b="0" i="0" u="none" strike="noStrike" kern="1200" cap="none" spc="0" baseline="0">
              <a:solidFill>
                <a:srgbClr val="646E73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653466"/>
      </p:ext>
    </p:extLst>
  </p:cSld>
  <p:clrMapOvr>
    <a:masterClrMapping/>
  </p:clrMapOvr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"/>
          <p:cNvSpPr>
            <a:spLocks/>
          </p:cNvSpPr>
          <p:nvPr/>
        </p:nvSpPr>
        <p:spPr>
          <a:xfrm rot="0">
            <a:off x="0" y="0"/>
            <a:ext cx="12191694" cy="164592"/>
          </a:xfrm>
          <a:prstGeom prst="rect"/>
          <a:solidFill>
            <a:srgbClr val="149687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72" name="Rectangle"/>
          <p:cNvSpPr>
            <a:spLocks/>
          </p:cNvSpPr>
          <p:nvPr/>
        </p:nvSpPr>
        <p:spPr>
          <a:xfrm rot="0">
            <a:off x="594360" y="384048"/>
            <a:ext cx="3200781" cy="5200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rgbClr val="142337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9. Database Design</a:t>
            </a:r>
            <a:endParaRPr lang="zh-CN" altLang="en-US" sz="2800" b="0" i="0" u="none" strike="noStrike" kern="1200" cap="none" spc="0" baseline="0">
              <a:solidFill>
                <a:srgbClr val="142337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73" name="Rectangle"/>
          <p:cNvSpPr>
            <a:spLocks/>
          </p:cNvSpPr>
          <p:nvPr/>
        </p:nvSpPr>
        <p:spPr>
          <a:xfrm rot="0">
            <a:off x="777240" y="1325880"/>
            <a:ext cx="10607040" cy="237108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Users: user_id, name, age, gender, email, created_at</a:t>
            </a:r>
            <a:endParaRPr lang="en-US" altLang="zh-CN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Fitness_Profile: profile_id, user_id, goal, activity_level, experience, equipment, schedule</a:t>
            </a:r>
            <a:endParaRPr lang="en-US" altLang="zh-CN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Plans: plan_id, user_id, generated_at, goal, plan_text / structured_plan</a:t>
            </a:r>
            <a:endParaRPr lang="en-US" altLang="zh-CN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Feedback: feedback_id, user_id, plan_id, rating, comments</a:t>
            </a:r>
            <a:endParaRPr lang="en-US" altLang="zh-CN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Relationship: One user → one or more fitness profiles and generated plans; each plan may receive feedback.</a:t>
            </a:r>
            <a:endParaRPr lang="zh-CN" altLang="en-US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74" name="Rectangle"/>
          <p:cNvSpPr>
            <a:spLocks/>
          </p:cNvSpPr>
          <p:nvPr/>
        </p:nvSpPr>
        <p:spPr>
          <a:xfrm rot="0">
            <a:off x="11306175" y="6473951"/>
            <a:ext cx="306704" cy="2152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646E73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10</a:t>
            </a:r>
            <a:endParaRPr lang="zh-CN" altLang="en-US" sz="900" b="0" i="0" u="none" strike="noStrike" kern="1200" cap="none" spc="0" baseline="0">
              <a:solidFill>
                <a:srgbClr val="646E73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3625108"/>
      </p:ext>
    </p:extLst>
  </p:cSld>
  <p:clrMapOvr>
    <a:masterClrMapping/>
  </p:clrMapOvr>
</p:sld>
</file>

<file path=ppt/slides/slide1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"/>
          <p:cNvSpPr>
            <a:spLocks/>
          </p:cNvSpPr>
          <p:nvPr/>
        </p:nvSpPr>
        <p:spPr>
          <a:xfrm rot="0">
            <a:off x="0" y="0"/>
            <a:ext cx="12191694" cy="164592"/>
          </a:xfrm>
          <a:prstGeom prst="rect"/>
          <a:solidFill>
            <a:srgbClr val="149687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76" name="Rectangle"/>
          <p:cNvSpPr>
            <a:spLocks/>
          </p:cNvSpPr>
          <p:nvPr/>
        </p:nvSpPr>
        <p:spPr>
          <a:xfrm rot="0">
            <a:off x="594360" y="384048"/>
            <a:ext cx="3414140" cy="5200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rgbClr val="142337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10. Main Screens / UI</a:t>
            </a:r>
            <a:endParaRPr lang="zh-CN" altLang="en-US" sz="2800" b="0" i="0" u="none" strike="noStrike" kern="1200" cap="none" spc="0" baseline="0">
              <a:solidFill>
                <a:srgbClr val="142337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77" name="Rounded rectangle"/>
          <p:cNvSpPr>
            <a:spLocks/>
          </p:cNvSpPr>
          <p:nvPr/>
        </p:nvSpPr>
        <p:spPr>
          <a:xfrm rot="0">
            <a:off x="640080" y="1417320"/>
            <a:ext cx="3337560" cy="4389120"/>
          </a:xfrm>
          <a:prstGeom prst="roundRect">
            <a:avLst>
              <a:gd name="adj" fmla="val 16666"/>
            </a:avLst>
          </a:prstGeom>
          <a:solidFill>
            <a:srgbClr val="F2F7F6"/>
          </a:solidFill>
          <a:ln w="9525" cmpd="sng" cap="flat">
            <a:solidFill>
              <a:srgbClr val="149687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78" name="Rectangle"/>
          <p:cNvSpPr>
            <a:spLocks/>
          </p:cNvSpPr>
          <p:nvPr/>
        </p:nvSpPr>
        <p:spPr>
          <a:xfrm rot="0">
            <a:off x="1675065" y="1691639"/>
            <a:ext cx="1221865" cy="4057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00" b="0" i="0" u="none" strike="noStrike" kern="1200" cap="none" spc="0" baseline="0">
                <a:solidFill>
                  <a:srgbClr val="142337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PROFILE</a:t>
            </a:r>
            <a:endParaRPr lang="zh-CN" altLang="en-US" sz="2100" b="0" i="0" u="none" strike="noStrike" kern="1200" cap="none" spc="0" baseline="0">
              <a:solidFill>
                <a:srgbClr val="142337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79" name="Rectangle"/>
          <p:cNvSpPr>
            <a:spLocks/>
          </p:cNvSpPr>
          <p:nvPr/>
        </p:nvSpPr>
        <p:spPr>
          <a:xfrm rot="0">
            <a:off x="1051560" y="2423160"/>
            <a:ext cx="664844" cy="31051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• Age</a:t>
            </a:r>
            <a:endParaRPr lang="zh-CN" altLang="en-US" sz="15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80" name="Rectangle"/>
          <p:cNvSpPr>
            <a:spLocks/>
          </p:cNvSpPr>
          <p:nvPr/>
        </p:nvSpPr>
        <p:spPr>
          <a:xfrm rot="0">
            <a:off x="1051560" y="3063239"/>
            <a:ext cx="1312545" cy="31051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• Fitness goal</a:t>
            </a:r>
            <a:endParaRPr lang="zh-CN" altLang="en-US" sz="15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81" name="Rectangle"/>
          <p:cNvSpPr>
            <a:spLocks/>
          </p:cNvSpPr>
          <p:nvPr/>
        </p:nvSpPr>
        <p:spPr>
          <a:xfrm rot="0">
            <a:off x="1051560" y="3703319"/>
            <a:ext cx="1369695" cy="31051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• Activity level</a:t>
            </a:r>
            <a:endParaRPr lang="zh-CN" altLang="en-US" sz="15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82" name="Rectangle"/>
          <p:cNvSpPr>
            <a:spLocks/>
          </p:cNvSpPr>
          <p:nvPr/>
        </p:nvSpPr>
        <p:spPr>
          <a:xfrm rot="0">
            <a:off x="1051560" y="4343400"/>
            <a:ext cx="1613535" cy="31051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• Diet preference</a:t>
            </a:r>
            <a:endParaRPr lang="zh-CN" altLang="en-US" sz="15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83" name="Rounded rectangle"/>
          <p:cNvSpPr>
            <a:spLocks/>
          </p:cNvSpPr>
          <p:nvPr/>
        </p:nvSpPr>
        <p:spPr>
          <a:xfrm rot="0">
            <a:off x="4434840" y="1417320"/>
            <a:ext cx="3337560" cy="4389120"/>
          </a:xfrm>
          <a:prstGeom prst="roundRect">
            <a:avLst>
              <a:gd name="adj" fmla="val 16666"/>
            </a:avLst>
          </a:prstGeom>
          <a:solidFill>
            <a:srgbClr val="F2F7F6"/>
          </a:solidFill>
          <a:ln w="9525" cmpd="sng" cap="flat">
            <a:solidFill>
              <a:srgbClr val="149687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84" name="Rectangle"/>
          <p:cNvSpPr>
            <a:spLocks/>
          </p:cNvSpPr>
          <p:nvPr/>
        </p:nvSpPr>
        <p:spPr>
          <a:xfrm rot="0">
            <a:off x="5645848" y="1691639"/>
            <a:ext cx="869822" cy="4057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00" b="0" i="0" u="none" strike="noStrike" kern="1200" cap="none" spc="0" baseline="0">
                <a:solidFill>
                  <a:srgbClr val="142337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PLAN</a:t>
            </a:r>
            <a:endParaRPr lang="zh-CN" altLang="en-US" sz="2100" b="0" i="0" u="none" strike="noStrike" kern="1200" cap="none" spc="0" baseline="0">
              <a:solidFill>
                <a:srgbClr val="142337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85" name="Rectangle"/>
          <p:cNvSpPr>
            <a:spLocks/>
          </p:cNvSpPr>
          <p:nvPr/>
        </p:nvSpPr>
        <p:spPr>
          <a:xfrm rot="0">
            <a:off x="4846320" y="2423160"/>
            <a:ext cx="1712594" cy="31051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• Monday–Sunday</a:t>
            </a:r>
            <a:endParaRPr lang="zh-CN" altLang="en-US" sz="15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86" name="Rectangle"/>
          <p:cNvSpPr>
            <a:spLocks/>
          </p:cNvSpPr>
          <p:nvPr/>
        </p:nvSpPr>
        <p:spPr>
          <a:xfrm rot="0">
            <a:off x="4846320" y="3063239"/>
            <a:ext cx="1624964" cy="31051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• Workout details</a:t>
            </a:r>
            <a:endParaRPr lang="zh-CN" altLang="en-US" sz="15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87" name="Rectangle"/>
          <p:cNvSpPr>
            <a:spLocks/>
          </p:cNvSpPr>
          <p:nvPr/>
        </p:nvSpPr>
        <p:spPr>
          <a:xfrm rot="0">
            <a:off x="4846320" y="3703319"/>
            <a:ext cx="1590675" cy="31051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• Rest / recovery</a:t>
            </a:r>
            <a:endParaRPr lang="zh-CN" altLang="en-US" sz="15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88" name="Rectangle"/>
          <p:cNvSpPr>
            <a:spLocks/>
          </p:cNvSpPr>
          <p:nvPr/>
        </p:nvSpPr>
        <p:spPr>
          <a:xfrm rot="0">
            <a:off x="4846320" y="4343400"/>
            <a:ext cx="1541145" cy="31051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• Nutrition notes</a:t>
            </a:r>
            <a:endParaRPr lang="zh-CN" altLang="en-US" sz="15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89" name="Rounded rectangle"/>
          <p:cNvSpPr>
            <a:spLocks/>
          </p:cNvSpPr>
          <p:nvPr/>
        </p:nvSpPr>
        <p:spPr>
          <a:xfrm rot="0">
            <a:off x="8229600" y="1417320"/>
            <a:ext cx="3337558" cy="4389120"/>
          </a:xfrm>
          <a:prstGeom prst="roundRect">
            <a:avLst>
              <a:gd name="adj" fmla="val 16666"/>
            </a:avLst>
          </a:prstGeom>
          <a:solidFill>
            <a:srgbClr val="F2F7F6"/>
          </a:solidFill>
          <a:ln w="9525" cmpd="sng" cap="flat">
            <a:solidFill>
              <a:srgbClr val="149687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90" name="Rectangle"/>
          <p:cNvSpPr>
            <a:spLocks/>
          </p:cNvSpPr>
          <p:nvPr/>
        </p:nvSpPr>
        <p:spPr>
          <a:xfrm rot="0">
            <a:off x="9237916" y="1691639"/>
            <a:ext cx="1275205" cy="4057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00" b="0" i="0" u="none" strike="noStrike" kern="1200" cap="none" spc="0" baseline="0">
                <a:solidFill>
                  <a:srgbClr val="142337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HISTORY</a:t>
            </a:r>
            <a:endParaRPr lang="zh-CN" altLang="en-US" sz="2100" b="0" i="0" u="none" strike="noStrike" kern="1200" cap="none" spc="0" baseline="0">
              <a:solidFill>
                <a:srgbClr val="142337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91" name="Rectangle"/>
          <p:cNvSpPr>
            <a:spLocks/>
          </p:cNvSpPr>
          <p:nvPr/>
        </p:nvSpPr>
        <p:spPr>
          <a:xfrm rot="0">
            <a:off x="8641080" y="2423160"/>
            <a:ext cx="1529715" cy="31051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• Previous plans</a:t>
            </a:r>
            <a:endParaRPr lang="zh-CN" altLang="en-US" sz="15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92" name="Rectangle"/>
          <p:cNvSpPr>
            <a:spLocks/>
          </p:cNvSpPr>
          <p:nvPr/>
        </p:nvSpPr>
        <p:spPr>
          <a:xfrm rot="0">
            <a:off x="8641080" y="3063239"/>
            <a:ext cx="1613534" cy="31051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• Date generated</a:t>
            </a:r>
            <a:endParaRPr lang="zh-CN" altLang="en-US" sz="15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93" name="Rectangle"/>
          <p:cNvSpPr>
            <a:spLocks/>
          </p:cNvSpPr>
          <p:nvPr/>
        </p:nvSpPr>
        <p:spPr>
          <a:xfrm rot="0">
            <a:off x="8641080" y="3703319"/>
            <a:ext cx="1289683" cy="31051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• Regenerate</a:t>
            </a:r>
            <a:endParaRPr lang="zh-CN" altLang="en-US" sz="15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94" name="Rectangle"/>
          <p:cNvSpPr>
            <a:spLocks/>
          </p:cNvSpPr>
          <p:nvPr/>
        </p:nvSpPr>
        <p:spPr>
          <a:xfrm rot="0">
            <a:off x="8641080" y="4343400"/>
            <a:ext cx="1141095" cy="31051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• Feedback</a:t>
            </a:r>
            <a:endParaRPr lang="zh-CN" altLang="en-US" sz="15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95" name="Rectangle"/>
          <p:cNvSpPr>
            <a:spLocks/>
          </p:cNvSpPr>
          <p:nvPr/>
        </p:nvSpPr>
        <p:spPr>
          <a:xfrm rot="0">
            <a:off x="11333607" y="6473951"/>
            <a:ext cx="279271" cy="2152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646E73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11</a:t>
            </a:r>
            <a:endParaRPr lang="zh-CN" altLang="en-US" sz="900" b="0" i="0" u="none" strike="noStrike" kern="1200" cap="none" spc="0" baseline="0">
              <a:solidFill>
                <a:srgbClr val="646E73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658892"/>
      </p:ext>
    </p:extLst>
  </p:cSld>
  <p:clrMapOvr>
    <a:masterClrMapping/>
  </p:clrMapOvr>
</p:sld>
</file>

<file path=ppt/slides/slide1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"/>
          <p:cNvSpPr>
            <a:spLocks/>
          </p:cNvSpPr>
          <p:nvPr/>
        </p:nvSpPr>
        <p:spPr>
          <a:xfrm rot="0">
            <a:off x="0" y="0"/>
            <a:ext cx="12191694" cy="164592"/>
          </a:xfrm>
          <a:prstGeom prst="rect"/>
          <a:solidFill>
            <a:srgbClr val="149687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97" name="Rectangle"/>
          <p:cNvSpPr>
            <a:spLocks/>
          </p:cNvSpPr>
          <p:nvPr/>
        </p:nvSpPr>
        <p:spPr>
          <a:xfrm rot="0">
            <a:off x="594360" y="384048"/>
            <a:ext cx="5320155" cy="5200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rgbClr val="142337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11. Sample Gemini Prompt Design</a:t>
            </a:r>
            <a:endParaRPr lang="zh-CN" altLang="en-US" sz="2800" b="0" i="0" u="none" strike="noStrike" kern="1200" cap="none" spc="0" baseline="0">
              <a:solidFill>
                <a:srgbClr val="142337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98" name="Rounded rectangle"/>
          <p:cNvSpPr>
            <a:spLocks/>
          </p:cNvSpPr>
          <p:nvPr/>
        </p:nvSpPr>
        <p:spPr>
          <a:xfrm rot="0">
            <a:off x="731520" y="1417320"/>
            <a:ext cx="10698479" cy="4480560"/>
          </a:xfrm>
          <a:prstGeom prst="roundRect">
            <a:avLst>
              <a:gd name="adj" fmla="val 16666"/>
            </a:avLst>
          </a:prstGeom>
          <a:solidFill>
            <a:srgbClr val="F8FAFA"/>
          </a:solidFill>
          <a:ln w="9525" cmpd="sng" cap="flat">
            <a:solidFill>
              <a:srgbClr val="149687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99" name="Rectangle"/>
          <p:cNvSpPr>
            <a:spLocks/>
          </p:cNvSpPr>
          <p:nvPr/>
        </p:nvSpPr>
        <p:spPr>
          <a:xfrm rot="0">
            <a:off x="1005839" y="1691639"/>
            <a:ext cx="4911215" cy="407288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232D32"/>
                </a:solidFill>
                <a:latin typeface="Courier New" pitchFamily="0" charset="0"/>
                <a:ea typeface="宋体" pitchFamily="0" charset="0"/>
                <a:cs typeface="Calibri" pitchFamily="0" charset="0"/>
              </a:rPr>
              <a:t>You are FitBuddy, an AI fitness planning assistant.</a:t>
            </a:r>
            <a:br>
              <a:rPr lang="zh-CN" altLang="en-US" sz="1400" b="0" i="0" u="none" strike="noStrike" kern="1200" cap="none" spc="0" baseline="0">
                <a:solidFill>
                  <a:srgbClr val="232D32"/>
                </a:solidFill>
                <a:latin typeface="Courier New" pitchFamily="0" charset="0"/>
                <a:ea typeface="宋体" pitchFamily="0" charset="0"/>
                <a:cs typeface="Calibri" pitchFamily="0" charset="0"/>
              </a:rPr>
            </a:br>
            <a:r>
              <a:rPr lang="en-US" altLang="zh-CN" sz="1400" b="0" i="0" u="none" strike="noStrike" kern="1200" cap="none" spc="0" baseline="0">
                <a:solidFill>
                  <a:srgbClr val="232D32"/>
                </a:solidFill>
                <a:latin typeface="Courier New" pitchFamily="0" charset="0"/>
                <a:ea typeface="宋体" pitchFamily="0" charset="0"/>
                <a:cs typeface="Calibri" pitchFamily="0" charset="0"/>
              </a:rPr>
              <a:t>Create a general wellness plan using the supplied user profile.</a:t>
            </a:r>
            <a:br>
              <a:rPr lang="zh-CN" altLang="en-US" sz="1400" b="0" i="0" u="none" strike="noStrike" kern="1200" cap="none" spc="0" baseline="0">
                <a:solidFill>
                  <a:srgbClr val="232D32"/>
                </a:solidFill>
                <a:latin typeface="Courier New" pitchFamily="0" charset="0"/>
                <a:ea typeface="宋体" pitchFamily="0" charset="0"/>
                <a:cs typeface="Calibri" pitchFamily="0" charset="0"/>
              </a:rPr>
            </a:br>
            <a:br>
              <a:rPr lang="zh-CN" altLang="en-US" sz="1400" b="0" i="0" u="none" strike="noStrike" kern="1200" cap="none" spc="0" baseline="0">
                <a:solidFill>
                  <a:srgbClr val="232D32"/>
                </a:solidFill>
                <a:latin typeface="Courier New" pitchFamily="0" charset="0"/>
                <a:ea typeface="宋体" pitchFamily="0" charset="0"/>
                <a:cs typeface="Calibri" pitchFamily="0" charset="0"/>
              </a:rPr>
            </a:br>
            <a:r>
              <a:rPr lang="en-US" altLang="zh-CN" sz="1400" b="0" i="0" u="none" strike="noStrike" kern="1200" cap="none" spc="0" baseline="0">
                <a:solidFill>
                  <a:srgbClr val="232D32"/>
                </a:solidFill>
                <a:latin typeface="Courier New" pitchFamily="0" charset="0"/>
                <a:ea typeface="宋体" pitchFamily="0" charset="0"/>
                <a:cs typeface="Calibri" pitchFamily="0" charset="0"/>
              </a:rPr>
              <a:t>Profile:</a:t>
            </a:r>
            <a:br>
              <a:rPr lang="zh-CN" altLang="en-US" sz="1400" b="0" i="0" u="none" strike="noStrike" kern="1200" cap="none" spc="0" baseline="0">
                <a:solidFill>
                  <a:srgbClr val="232D32"/>
                </a:solidFill>
                <a:latin typeface="Courier New" pitchFamily="0" charset="0"/>
                <a:ea typeface="宋体" pitchFamily="0" charset="0"/>
                <a:cs typeface="Calibri" pitchFamily="0" charset="0"/>
              </a:rPr>
            </a:br>
            <a:r>
              <a:rPr lang="en-US" altLang="zh-CN" sz="1400" b="0" i="0" u="none" strike="noStrike" kern="1200" cap="none" spc="0" baseline="0">
                <a:solidFill>
                  <a:srgbClr val="232D32"/>
                </a:solidFill>
                <a:latin typeface="Courier New" pitchFamily="0" charset="0"/>
                <a:ea typeface="宋体" pitchFamily="0" charset="0"/>
                <a:cs typeface="Calibri" pitchFamily="0" charset="0"/>
              </a:rPr>
              <a:t>Goal: {goal}</a:t>
            </a:r>
            <a:br>
              <a:rPr lang="zh-CN" altLang="en-US" sz="1400" b="0" i="0" u="none" strike="noStrike" kern="1200" cap="none" spc="0" baseline="0">
                <a:solidFill>
                  <a:srgbClr val="232D32"/>
                </a:solidFill>
                <a:latin typeface="Courier New" pitchFamily="0" charset="0"/>
                <a:ea typeface="宋体" pitchFamily="0" charset="0"/>
                <a:cs typeface="Calibri" pitchFamily="0" charset="0"/>
              </a:rPr>
            </a:br>
            <a:r>
              <a:rPr lang="en-US" altLang="zh-CN" sz="1400" b="0" i="0" u="none" strike="noStrike" kern="1200" cap="none" spc="0" baseline="0">
                <a:solidFill>
                  <a:srgbClr val="232D32"/>
                </a:solidFill>
                <a:latin typeface="Courier New" pitchFamily="0" charset="0"/>
                <a:ea typeface="宋体" pitchFamily="0" charset="0"/>
                <a:cs typeface="Calibri" pitchFamily="0" charset="0"/>
              </a:rPr>
              <a:t>Experience: {experience}</a:t>
            </a:r>
            <a:br>
              <a:rPr lang="zh-CN" altLang="en-US" sz="1400" b="0" i="0" u="none" strike="noStrike" kern="1200" cap="none" spc="0" baseline="0">
                <a:solidFill>
                  <a:srgbClr val="232D32"/>
                </a:solidFill>
                <a:latin typeface="Courier New" pitchFamily="0" charset="0"/>
                <a:ea typeface="宋体" pitchFamily="0" charset="0"/>
                <a:cs typeface="Calibri" pitchFamily="0" charset="0"/>
              </a:rPr>
            </a:br>
            <a:r>
              <a:rPr lang="en-US" altLang="zh-CN" sz="1400" b="0" i="0" u="none" strike="noStrike" kern="1200" cap="none" spc="0" baseline="0">
                <a:solidFill>
                  <a:srgbClr val="232D32"/>
                </a:solidFill>
                <a:latin typeface="Courier New" pitchFamily="0" charset="0"/>
                <a:ea typeface="宋体" pitchFamily="0" charset="0"/>
                <a:cs typeface="Calibri" pitchFamily="0" charset="0"/>
              </a:rPr>
              <a:t>Activity level: {activity}</a:t>
            </a:r>
            <a:br>
              <a:rPr lang="zh-CN" altLang="en-US" sz="1400" b="0" i="0" u="none" strike="noStrike" kern="1200" cap="none" spc="0" baseline="0">
                <a:solidFill>
                  <a:srgbClr val="232D32"/>
                </a:solidFill>
                <a:latin typeface="Courier New" pitchFamily="0" charset="0"/>
                <a:ea typeface="宋体" pitchFamily="0" charset="0"/>
                <a:cs typeface="Calibri" pitchFamily="0" charset="0"/>
              </a:rPr>
            </a:br>
            <a:r>
              <a:rPr lang="en-US" altLang="zh-CN" sz="1400" b="0" i="0" u="none" strike="noStrike" kern="1200" cap="none" spc="0" baseline="0">
                <a:solidFill>
                  <a:srgbClr val="232D32"/>
                </a:solidFill>
                <a:latin typeface="Courier New" pitchFamily="0" charset="0"/>
                <a:ea typeface="宋体" pitchFamily="0" charset="0"/>
                <a:cs typeface="Calibri" pitchFamily="0" charset="0"/>
              </a:rPr>
              <a:t>Equipment: {equipment}</a:t>
            </a:r>
            <a:br>
              <a:rPr lang="zh-CN" altLang="en-US" sz="1400" b="0" i="0" u="none" strike="noStrike" kern="1200" cap="none" spc="0" baseline="0">
                <a:solidFill>
                  <a:srgbClr val="232D32"/>
                </a:solidFill>
                <a:latin typeface="Courier New" pitchFamily="0" charset="0"/>
                <a:ea typeface="宋体" pitchFamily="0" charset="0"/>
                <a:cs typeface="Calibri" pitchFamily="0" charset="0"/>
              </a:rPr>
            </a:br>
            <a:r>
              <a:rPr lang="en-US" altLang="zh-CN" sz="1400" b="0" i="0" u="none" strike="noStrike" kern="1200" cap="none" spc="0" baseline="0">
                <a:solidFill>
                  <a:srgbClr val="232D32"/>
                </a:solidFill>
                <a:latin typeface="Courier New" pitchFamily="0" charset="0"/>
                <a:ea typeface="宋体" pitchFamily="0" charset="0"/>
                <a:cs typeface="Calibri" pitchFamily="0" charset="0"/>
              </a:rPr>
              <a:t>Diet preference: {diet}</a:t>
            </a:r>
            <a:br>
              <a:rPr lang="zh-CN" altLang="en-US" sz="1400" b="0" i="0" u="none" strike="noStrike" kern="1200" cap="none" spc="0" baseline="0">
                <a:solidFill>
                  <a:srgbClr val="232D32"/>
                </a:solidFill>
                <a:latin typeface="Courier New" pitchFamily="0" charset="0"/>
                <a:ea typeface="宋体" pitchFamily="0" charset="0"/>
                <a:cs typeface="Calibri" pitchFamily="0" charset="0"/>
              </a:rPr>
            </a:br>
            <a:r>
              <a:rPr lang="en-US" altLang="zh-CN" sz="1400" b="0" i="0" u="none" strike="noStrike" kern="1200" cap="none" spc="0" baseline="0">
                <a:solidFill>
                  <a:srgbClr val="232D32"/>
                </a:solidFill>
                <a:latin typeface="Courier New" pitchFamily="0" charset="0"/>
                <a:ea typeface="宋体" pitchFamily="0" charset="0"/>
                <a:cs typeface="Calibri" pitchFamily="0" charset="0"/>
              </a:rPr>
              <a:t>Available days: {days}</a:t>
            </a:r>
            <a:br>
              <a:rPr lang="zh-CN" altLang="en-US" sz="1400" b="0" i="0" u="none" strike="noStrike" kern="1200" cap="none" spc="0" baseline="0">
                <a:solidFill>
                  <a:srgbClr val="232D32"/>
                </a:solidFill>
                <a:latin typeface="Courier New" pitchFamily="0" charset="0"/>
                <a:ea typeface="宋体" pitchFamily="0" charset="0"/>
                <a:cs typeface="Calibri" pitchFamily="0" charset="0"/>
              </a:rPr>
            </a:br>
            <a:br>
              <a:rPr lang="zh-CN" altLang="en-US" sz="1400" b="0" i="0" u="none" strike="noStrike" kern="1200" cap="none" spc="0" baseline="0">
                <a:solidFill>
                  <a:srgbClr val="232D32"/>
                </a:solidFill>
                <a:latin typeface="Courier New" pitchFamily="0" charset="0"/>
                <a:ea typeface="宋体" pitchFamily="0" charset="0"/>
                <a:cs typeface="Calibri" pitchFamily="0" charset="0"/>
              </a:rPr>
            </a:br>
            <a:r>
              <a:rPr lang="en-US" altLang="zh-CN" sz="1400" b="0" i="0" u="none" strike="noStrike" kern="1200" cap="none" spc="0" baseline="0">
                <a:solidFill>
                  <a:srgbClr val="232D32"/>
                </a:solidFill>
                <a:latin typeface="Courier New" pitchFamily="0" charset="0"/>
                <a:ea typeface="宋体" pitchFamily="0" charset="0"/>
                <a:cs typeface="Calibri" pitchFamily="0" charset="0"/>
              </a:rPr>
              <a:t>Return:</a:t>
            </a:r>
            <a:br>
              <a:rPr lang="zh-CN" altLang="en-US" sz="1400" b="0" i="0" u="none" strike="noStrike" kern="1200" cap="none" spc="0" baseline="0">
                <a:solidFill>
                  <a:srgbClr val="232D32"/>
                </a:solidFill>
                <a:latin typeface="Courier New" pitchFamily="0" charset="0"/>
                <a:ea typeface="宋体" pitchFamily="0" charset="0"/>
                <a:cs typeface="Calibri" pitchFamily="0" charset="0"/>
              </a:rPr>
            </a:br>
            <a:r>
              <a:rPr lang="en-US" altLang="zh-CN" sz="1400" b="0" i="0" u="none" strike="noStrike" kern="1200" cap="none" spc="0" baseline="0">
                <a:solidFill>
                  <a:srgbClr val="232D32"/>
                </a:solidFill>
                <a:latin typeface="Courier New" pitchFamily="0" charset="0"/>
                <a:ea typeface="宋体" pitchFamily="0" charset="0"/>
                <a:cs typeface="Calibri" pitchFamily="0" charset="0"/>
              </a:rPr>
              <a:t>1. Weekly workout schedule</a:t>
            </a:r>
            <a:br>
              <a:rPr lang="zh-CN" altLang="en-US" sz="1400" b="0" i="0" u="none" strike="noStrike" kern="1200" cap="none" spc="0" baseline="0">
                <a:solidFill>
                  <a:srgbClr val="232D32"/>
                </a:solidFill>
                <a:latin typeface="Courier New" pitchFamily="0" charset="0"/>
                <a:ea typeface="宋体" pitchFamily="0" charset="0"/>
                <a:cs typeface="Calibri" pitchFamily="0" charset="0"/>
              </a:rPr>
            </a:br>
            <a:r>
              <a:rPr lang="en-US" altLang="zh-CN" sz="1400" b="0" i="0" u="none" strike="noStrike" kern="1200" cap="none" spc="0" baseline="0">
                <a:solidFill>
                  <a:srgbClr val="232D32"/>
                </a:solidFill>
                <a:latin typeface="Courier New" pitchFamily="0" charset="0"/>
                <a:ea typeface="宋体" pitchFamily="0" charset="0"/>
                <a:cs typeface="Calibri" pitchFamily="0" charset="0"/>
              </a:rPr>
              <a:t>2. Exercise details and rest guidance</a:t>
            </a:r>
            <a:br>
              <a:rPr lang="zh-CN" altLang="en-US" sz="1400" b="0" i="0" u="none" strike="noStrike" kern="1200" cap="none" spc="0" baseline="0">
                <a:solidFill>
                  <a:srgbClr val="232D32"/>
                </a:solidFill>
                <a:latin typeface="Courier New" pitchFamily="0" charset="0"/>
                <a:ea typeface="宋体" pitchFamily="0" charset="0"/>
                <a:cs typeface="Calibri" pitchFamily="0" charset="0"/>
              </a:rPr>
            </a:br>
            <a:r>
              <a:rPr lang="en-US" altLang="zh-CN" sz="1400" b="0" i="0" u="none" strike="noStrike" kern="1200" cap="none" spc="0" baseline="0">
                <a:solidFill>
                  <a:srgbClr val="232D32"/>
                </a:solidFill>
                <a:latin typeface="Courier New" pitchFamily="0" charset="0"/>
                <a:ea typeface="宋体" pitchFamily="0" charset="0"/>
                <a:cs typeface="Calibri" pitchFamily="0" charset="0"/>
              </a:rPr>
              <a:t>3. General nutrition suggestions</a:t>
            </a:r>
            <a:br>
              <a:rPr lang="zh-CN" altLang="en-US" sz="1400" b="0" i="0" u="none" strike="noStrike" kern="1200" cap="none" spc="0" baseline="0">
                <a:solidFill>
                  <a:srgbClr val="232D32"/>
                </a:solidFill>
                <a:latin typeface="Courier New" pitchFamily="0" charset="0"/>
                <a:ea typeface="宋体" pitchFamily="0" charset="0"/>
                <a:cs typeface="Calibri" pitchFamily="0" charset="0"/>
              </a:rPr>
            </a:br>
            <a:r>
              <a:rPr lang="en-US" altLang="zh-CN" sz="1400" b="0" i="0" u="none" strike="noStrike" kern="1200" cap="none" spc="0" baseline="0">
                <a:solidFill>
                  <a:srgbClr val="232D32"/>
                </a:solidFill>
                <a:latin typeface="Courier New" pitchFamily="0" charset="0"/>
                <a:ea typeface="宋体" pitchFamily="0" charset="0"/>
                <a:cs typeface="Calibri" pitchFamily="0" charset="0"/>
              </a:rPr>
              <a:t>4. Hydration and recovery tips</a:t>
            </a:r>
            <a:br>
              <a:rPr lang="zh-CN" altLang="en-US" sz="1400" b="0" i="0" u="none" strike="noStrike" kern="1200" cap="none" spc="0" baseline="0">
                <a:solidFill>
                  <a:srgbClr val="232D32"/>
                </a:solidFill>
                <a:latin typeface="Courier New" pitchFamily="0" charset="0"/>
                <a:ea typeface="宋体" pitchFamily="0" charset="0"/>
                <a:cs typeface="Calibri" pitchFamily="0" charset="0"/>
              </a:rPr>
            </a:br>
            <a:r>
              <a:rPr lang="en-US" altLang="zh-CN" sz="1400" b="0" i="0" u="none" strike="noStrike" kern="1200" cap="none" spc="0" baseline="0">
                <a:solidFill>
                  <a:srgbClr val="232D32"/>
                </a:solidFill>
                <a:latin typeface="Courier New" pitchFamily="0" charset="0"/>
                <a:ea typeface="宋体" pitchFamily="0" charset="0"/>
                <a:cs typeface="Calibri" pitchFamily="0" charset="0"/>
              </a:rPr>
              <a:t>5. Safety note</a:t>
            </a:r>
            <a:br>
              <a:rPr lang="zh-CN" altLang="en-US" sz="1400" b="0" i="0" u="none" strike="noStrike" kern="1200" cap="none" spc="0" baseline="0">
                <a:solidFill>
                  <a:srgbClr val="232D32"/>
                </a:solidFill>
                <a:latin typeface="Courier New" pitchFamily="0" charset="0"/>
                <a:ea typeface="宋体" pitchFamily="0" charset="0"/>
                <a:cs typeface="Calibri" pitchFamily="0" charset="0"/>
              </a:rPr>
            </a:br>
            <a:br>
              <a:rPr lang="zh-CN" altLang="en-US" sz="1400" b="0" i="0" u="none" strike="noStrike" kern="1200" cap="none" spc="0" baseline="0">
                <a:solidFill>
                  <a:srgbClr val="232D32"/>
                </a:solidFill>
                <a:latin typeface="Courier New" pitchFamily="0" charset="0"/>
                <a:ea typeface="宋体" pitchFamily="0" charset="0"/>
                <a:cs typeface="Calibri" pitchFamily="0" charset="0"/>
              </a:rPr>
            </a:br>
            <a:r>
              <a:rPr lang="en-US" altLang="zh-CN" sz="1400" b="0" i="0" u="none" strike="noStrike" kern="1200" cap="none" spc="0" baseline="0">
                <a:solidFill>
                  <a:srgbClr val="232D32"/>
                </a:solidFill>
                <a:latin typeface="Courier New" pitchFamily="0" charset="0"/>
                <a:ea typeface="宋体" pitchFamily="0" charset="0"/>
                <a:cs typeface="Calibri" pitchFamily="0" charset="0"/>
              </a:rPr>
              <a:t>Keep the response practical, clear and appropriately cautious.</a:t>
            </a:r>
            <a:endParaRPr lang="zh-CN" altLang="en-US" sz="1400" b="0" i="0" u="none" strike="noStrike" kern="1200" cap="none" spc="0" baseline="0">
              <a:solidFill>
                <a:srgbClr val="232D32"/>
              </a:solidFill>
              <a:latin typeface="Courier New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00" name="Rectangle"/>
          <p:cNvSpPr>
            <a:spLocks/>
          </p:cNvSpPr>
          <p:nvPr/>
        </p:nvSpPr>
        <p:spPr>
          <a:xfrm rot="0">
            <a:off x="11315317" y="6473951"/>
            <a:ext cx="297561" cy="2152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646E73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12</a:t>
            </a:r>
            <a:endParaRPr lang="zh-CN" altLang="en-US" sz="900" b="0" i="0" u="none" strike="noStrike" kern="1200" cap="none" spc="0" baseline="0">
              <a:solidFill>
                <a:srgbClr val="646E73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2469149"/>
      </p:ext>
    </p:extLst>
  </p:cSld>
  <p:clrMapOvr>
    <a:masterClrMapping/>
  </p:clrMapOvr>
</p:sld>
</file>

<file path=ppt/slides/slide1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"/>
          <p:cNvSpPr>
            <a:spLocks/>
          </p:cNvSpPr>
          <p:nvPr/>
        </p:nvSpPr>
        <p:spPr>
          <a:xfrm rot="0">
            <a:off x="0" y="0"/>
            <a:ext cx="12191694" cy="164592"/>
          </a:xfrm>
          <a:prstGeom prst="rect"/>
          <a:solidFill>
            <a:srgbClr val="149687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02" name="Rectangle"/>
          <p:cNvSpPr>
            <a:spLocks/>
          </p:cNvSpPr>
          <p:nvPr/>
        </p:nvSpPr>
        <p:spPr>
          <a:xfrm rot="0">
            <a:off x="594360" y="384048"/>
            <a:ext cx="10972800" cy="5943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rgbClr val="142337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12. Technology Stack</a:t>
            </a:r>
            <a:endParaRPr lang="zh-CN" altLang="en-US" sz="2800" b="0" i="0" u="none" strike="noStrike" kern="1200" cap="none" spc="0" baseline="0">
              <a:solidFill>
                <a:srgbClr val="142337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03" name="Rectangle"/>
          <p:cNvSpPr>
            <a:spLocks/>
          </p:cNvSpPr>
          <p:nvPr/>
        </p:nvSpPr>
        <p:spPr>
          <a:xfrm rot="0">
            <a:off x="777240" y="1325880"/>
            <a:ext cx="10607040" cy="5029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Frontend: HTML5, CSS3, JavaScript (or React for a richer interface).</a:t>
            </a:r>
            <a:endParaRPr lang="en-US" altLang="zh-CN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Backend: Python Flask / Node.js REST API.</a:t>
            </a:r>
            <a:endParaRPr lang="en-US" altLang="zh-CN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AI: Google Gemini API.</a:t>
            </a:r>
            <a:endParaRPr lang="en-US" altLang="zh-CN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Database: MySQL, SQLite or Firebase.</a:t>
            </a:r>
            <a:endParaRPr lang="en-US" altLang="zh-CN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Development tools: VS Code, Git/GitHub, Postman.</a:t>
            </a:r>
            <a:endParaRPr lang="en-US" altLang="zh-CN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Deployment options: Render, Vercel/Netlify for frontend, or another suitable cloud platform.</a:t>
            </a:r>
            <a:endParaRPr lang="zh-CN" altLang="en-US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04" name="Rectangle"/>
          <p:cNvSpPr>
            <a:spLocks/>
          </p:cNvSpPr>
          <p:nvPr/>
        </p:nvSpPr>
        <p:spPr>
          <a:xfrm rot="0">
            <a:off x="10881359" y="6473951"/>
            <a:ext cx="731518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646E73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13</a:t>
            </a:r>
            <a:endParaRPr lang="zh-CN" altLang="en-US" sz="900" b="0" i="0" u="none" strike="noStrike" kern="1200" cap="none" spc="0" baseline="0">
              <a:solidFill>
                <a:srgbClr val="646E73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9450146"/>
      </p:ext>
    </p:extLst>
  </p:cSld>
  <p:clrMapOvr>
    <a:masterClrMapping/>
  </p:clrMapOvr>
</p:sld>
</file>

<file path=ppt/slides/slide1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"/>
          <p:cNvSpPr>
            <a:spLocks/>
          </p:cNvSpPr>
          <p:nvPr/>
        </p:nvSpPr>
        <p:spPr>
          <a:xfrm rot="0">
            <a:off x="0" y="0"/>
            <a:ext cx="12191694" cy="164592"/>
          </a:xfrm>
          <a:prstGeom prst="rect"/>
          <a:solidFill>
            <a:srgbClr val="149687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06" name="Rectangle"/>
          <p:cNvSpPr>
            <a:spLocks/>
          </p:cNvSpPr>
          <p:nvPr/>
        </p:nvSpPr>
        <p:spPr>
          <a:xfrm rot="0">
            <a:off x="594360" y="384048"/>
            <a:ext cx="10972800" cy="5943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rgbClr val="142337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13. Functional Requirements</a:t>
            </a:r>
            <a:endParaRPr lang="zh-CN" altLang="en-US" sz="2800" b="0" i="0" u="none" strike="noStrike" kern="1200" cap="none" spc="0" baseline="0">
              <a:solidFill>
                <a:srgbClr val="142337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07" name="Rectangle"/>
          <p:cNvSpPr>
            <a:spLocks/>
          </p:cNvSpPr>
          <p:nvPr/>
        </p:nvSpPr>
        <p:spPr>
          <a:xfrm rot="0">
            <a:off x="777240" y="1325880"/>
            <a:ext cx="10607040" cy="5029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User can enter and update fitness profile information.</a:t>
            </a:r>
            <a:endParaRPr lang="en-US" altLang="zh-CN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System validates mandatory fields before generating a plan.</a:t>
            </a:r>
            <a:endParaRPr lang="en-US" altLang="zh-CN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System can send a structured request to Gemini.</a:t>
            </a:r>
            <a:endParaRPr lang="en-US" altLang="zh-CN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System displays the generated plan in readable sections.</a:t>
            </a:r>
            <a:endParaRPr lang="en-US" altLang="zh-CN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User can save, view and regenerate plans.</a:t>
            </a:r>
            <a:endParaRPr lang="en-US" altLang="zh-CN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System records basic feedback for future analysis.</a:t>
            </a:r>
            <a:endParaRPr lang="zh-CN" altLang="en-US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08" name="Rectangle"/>
          <p:cNvSpPr>
            <a:spLocks/>
          </p:cNvSpPr>
          <p:nvPr/>
        </p:nvSpPr>
        <p:spPr>
          <a:xfrm rot="0">
            <a:off x="10881359" y="6473951"/>
            <a:ext cx="731518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646E73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14</a:t>
            </a:r>
            <a:endParaRPr lang="zh-CN" altLang="en-US" sz="900" b="0" i="0" u="none" strike="noStrike" kern="1200" cap="none" spc="0" baseline="0">
              <a:solidFill>
                <a:srgbClr val="646E73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2692781"/>
      </p:ext>
    </p:extLst>
  </p:cSld>
  <p:clrMapOvr>
    <a:masterClrMapping/>
  </p:clrMapOvr>
</p:sld>
</file>

<file path=ppt/slides/slide1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"/>
          <p:cNvSpPr>
            <a:spLocks/>
          </p:cNvSpPr>
          <p:nvPr/>
        </p:nvSpPr>
        <p:spPr>
          <a:xfrm rot="0">
            <a:off x="0" y="0"/>
            <a:ext cx="12191694" cy="164592"/>
          </a:xfrm>
          <a:prstGeom prst="rect"/>
          <a:solidFill>
            <a:srgbClr val="149687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10" name="Rectangle"/>
          <p:cNvSpPr>
            <a:spLocks/>
          </p:cNvSpPr>
          <p:nvPr/>
        </p:nvSpPr>
        <p:spPr>
          <a:xfrm rot="0">
            <a:off x="594360" y="384048"/>
            <a:ext cx="10972800" cy="5943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rgbClr val="142337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14. Non-Functional Requirements</a:t>
            </a:r>
            <a:endParaRPr lang="zh-CN" altLang="en-US" sz="2800" b="0" i="0" u="none" strike="noStrike" kern="1200" cap="none" spc="0" baseline="0">
              <a:solidFill>
                <a:srgbClr val="142337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11" name="Rectangle"/>
          <p:cNvSpPr>
            <a:spLocks/>
          </p:cNvSpPr>
          <p:nvPr/>
        </p:nvSpPr>
        <p:spPr>
          <a:xfrm rot="0">
            <a:off x="777240" y="1325880"/>
            <a:ext cx="10607040" cy="5029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Usability – simple forms and readable weekly plans.</a:t>
            </a:r>
            <a:endParaRPr lang="en-US" altLang="zh-CN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Performance – avoid unnecessary API calls and show generation status.</a:t>
            </a:r>
            <a:endParaRPr lang="en-US" altLang="zh-CN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Security – keep API keys on the server; never expose secret keys in frontend code.</a:t>
            </a:r>
            <a:endParaRPr lang="en-US" altLang="zh-CN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Reliability – handle API failures, invalid responses and network errors.</a:t>
            </a:r>
            <a:endParaRPr lang="en-US" altLang="zh-CN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Privacy – collect only necessary user information and protect stored data.</a:t>
            </a:r>
            <a:endParaRPr lang="en-US" altLang="zh-CN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Maintainability – keep frontend, backend, AI prompt logic and database layers modular.</a:t>
            </a:r>
            <a:endParaRPr lang="zh-CN" altLang="en-US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12" name="Rectangle"/>
          <p:cNvSpPr>
            <a:spLocks/>
          </p:cNvSpPr>
          <p:nvPr/>
        </p:nvSpPr>
        <p:spPr>
          <a:xfrm rot="0">
            <a:off x="10881359" y="6473951"/>
            <a:ext cx="731518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646E73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15</a:t>
            </a:r>
            <a:endParaRPr lang="zh-CN" altLang="en-US" sz="900" b="0" i="0" u="none" strike="noStrike" kern="1200" cap="none" spc="0" baseline="0">
              <a:solidFill>
                <a:srgbClr val="646E73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4152892"/>
      </p:ext>
    </p:extLst>
  </p:cSld>
  <p:clrMapOvr>
    <a:masterClrMapping/>
  </p:clrMapOvr>
</p:sld>
</file>

<file path=ppt/slides/slide1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Rectangle"/>
          <p:cNvSpPr>
            <a:spLocks/>
          </p:cNvSpPr>
          <p:nvPr/>
        </p:nvSpPr>
        <p:spPr>
          <a:xfrm rot="0">
            <a:off x="0" y="0"/>
            <a:ext cx="12191694" cy="164592"/>
          </a:xfrm>
          <a:prstGeom prst="rect"/>
          <a:solidFill>
            <a:srgbClr val="149687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14" name="Rectangle"/>
          <p:cNvSpPr>
            <a:spLocks/>
          </p:cNvSpPr>
          <p:nvPr/>
        </p:nvSpPr>
        <p:spPr>
          <a:xfrm rot="0">
            <a:off x="594360" y="384048"/>
            <a:ext cx="10972800" cy="5943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rgbClr val="142337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15. Testing</a:t>
            </a:r>
            <a:endParaRPr lang="zh-CN" altLang="en-US" sz="2800" b="0" i="0" u="none" strike="noStrike" kern="1200" cap="none" spc="0" baseline="0">
              <a:solidFill>
                <a:srgbClr val="142337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15" name="Rectangle"/>
          <p:cNvSpPr>
            <a:spLocks/>
          </p:cNvSpPr>
          <p:nvPr/>
        </p:nvSpPr>
        <p:spPr>
          <a:xfrm rot="0">
            <a:off x="777240" y="1325880"/>
            <a:ext cx="10607040" cy="5029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Unit testing: validate profile fields and prompt construction.</a:t>
            </a:r>
            <a:endParaRPr lang="en-US" altLang="zh-CN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API testing: verify successful and failed Gemini API responses.</a:t>
            </a:r>
            <a:endParaRPr lang="en-US" altLang="zh-CN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Integration testing: profile → backend → Gemini → plan display.</a:t>
            </a:r>
            <a:endParaRPr lang="en-US" altLang="zh-CN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UI testing: verify forms, navigation, regeneration and history.</a:t>
            </a:r>
            <a:endParaRPr lang="en-US" altLang="zh-CN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Boundary testing: missing fields, unusual values and unsupported preferences.</a:t>
            </a:r>
            <a:endParaRPr lang="en-US" altLang="zh-CN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Safety testing: verify that the app provides general wellness guidance and encourages professional help when appropriate.</a:t>
            </a:r>
            <a:endParaRPr lang="zh-CN" altLang="en-US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16" name="Rectangle"/>
          <p:cNvSpPr>
            <a:spLocks/>
          </p:cNvSpPr>
          <p:nvPr/>
        </p:nvSpPr>
        <p:spPr>
          <a:xfrm rot="0">
            <a:off x="10881359" y="6473951"/>
            <a:ext cx="731518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646E73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16</a:t>
            </a:r>
            <a:endParaRPr lang="zh-CN" altLang="en-US" sz="900" b="0" i="0" u="none" strike="noStrike" kern="1200" cap="none" spc="0" baseline="0">
              <a:solidFill>
                <a:srgbClr val="646E73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762863"/>
      </p:ext>
    </p:extLst>
  </p:cSld>
  <p:clrMapOvr>
    <a:masterClrMapping/>
  </p:clrMapOvr>
</p:sld>
</file>

<file path=ppt/slides/slide1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"/>
          <p:cNvSpPr>
            <a:spLocks/>
          </p:cNvSpPr>
          <p:nvPr/>
        </p:nvSpPr>
        <p:spPr>
          <a:xfrm rot="0">
            <a:off x="0" y="0"/>
            <a:ext cx="12191694" cy="164592"/>
          </a:xfrm>
          <a:prstGeom prst="rect"/>
          <a:solidFill>
            <a:srgbClr val="149687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18" name="Rectangle"/>
          <p:cNvSpPr>
            <a:spLocks/>
          </p:cNvSpPr>
          <p:nvPr/>
        </p:nvSpPr>
        <p:spPr>
          <a:xfrm rot="0">
            <a:off x="594360" y="384048"/>
            <a:ext cx="10972800" cy="5943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rgbClr val="142337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16. Expected Results</a:t>
            </a:r>
            <a:endParaRPr lang="zh-CN" altLang="en-US" sz="2800" b="0" i="0" u="none" strike="noStrike" kern="1200" cap="none" spc="0" baseline="0">
              <a:solidFill>
                <a:srgbClr val="142337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19" name="Rectangle"/>
          <p:cNvSpPr>
            <a:spLocks/>
          </p:cNvSpPr>
          <p:nvPr/>
        </p:nvSpPr>
        <p:spPr>
          <a:xfrm rot="0">
            <a:off x="777240" y="1325880"/>
            <a:ext cx="10607040" cy="5029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Generates a personalized weekly fitness plan from user-provided information.</a:t>
            </a:r>
            <a:endParaRPr lang="en-US" altLang="zh-CN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Reduces the effort required to create a basic workout routine.</a:t>
            </a:r>
            <a:endParaRPr lang="en-US" altLang="zh-CN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Provides organized exercise, recovery and general nutrition suggestions.</a:t>
            </a:r>
            <a:endParaRPr lang="en-US" altLang="zh-CN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Creates a consistent user experience through structured AI output.</a:t>
            </a:r>
            <a:endParaRPr lang="en-US" altLang="zh-CN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Stores generated plans for later review.</a:t>
            </a:r>
            <a:endParaRPr lang="en-US" altLang="zh-CN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Demonstrates practical integration of generative AI into a web-based application.</a:t>
            </a:r>
            <a:endParaRPr lang="zh-CN" altLang="en-US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20" name="Rectangle"/>
          <p:cNvSpPr>
            <a:spLocks/>
          </p:cNvSpPr>
          <p:nvPr/>
        </p:nvSpPr>
        <p:spPr>
          <a:xfrm rot="0">
            <a:off x="10881359" y="6473951"/>
            <a:ext cx="731518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646E73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17</a:t>
            </a:r>
            <a:endParaRPr lang="zh-CN" altLang="en-US" sz="900" b="0" i="0" u="none" strike="noStrike" kern="1200" cap="none" spc="0" baseline="0">
              <a:solidFill>
                <a:srgbClr val="646E73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3952799"/>
      </p:ext>
    </p:extLst>
  </p:cSld>
  <p:clrMapOvr>
    <a:masterClrMapping/>
  </p:clrMapOvr>
</p:sld>
</file>

<file path=ppt/slides/slide1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Rectangle"/>
          <p:cNvSpPr>
            <a:spLocks/>
          </p:cNvSpPr>
          <p:nvPr/>
        </p:nvSpPr>
        <p:spPr>
          <a:xfrm rot="0">
            <a:off x="0" y="0"/>
            <a:ext cx="12191694" cy="164592"/>
          </a:xfrm>
          <a:prstGeom prst="rect"/>
          <a:solidFill>
            <a:srgbClr val="149687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22" name="Rectangle"/>
          <p:cNvSpPr>
            <a:spLocks/>
          </p:cNvSpPr>
          <p:nvPr/>
        </p:nvSpPr>
        <p:spPr>
          <a:xfrm rot="0">
            <a:off x="594360" y="384048"/>
            <a:ext cx="10972800" cy="5943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rgbClr val="142337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17. Advantages</a:t>
            </a:r>
            <a:endParaRPr lang="zh-CN" altLang="en-US" sz="2800" b="0" i="0" u="none" strike="noStrike" kern="1200" cap="none" spc="0" baseline="0">
              <a:solidFill>
                <a:srgbClr val="142337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23" name="Rectangle"/>
          <p:cNvSpPr>
            <a:spLocks/>
          </p:cNvSpPr>
          <p:nvPr/>
        </p:nvSpPr>
        <p:spPr>
          <a:xfrm rot="0">
            <a:off x="777240" y="1325880"/>
            <a:ext cx="10607040" cy="5029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Personalized instead of one-size-fits-all recommendations.</a:t>
            </a:r>
            <a:endParaRPr lang="en-US" altLang="zh-CN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Fast plan generation.</a:t>
            </a:r>
            <a:endParaRPr lang="en-US" altLang="zh-CN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Easy to update when the user's goal or schedule changes.</a:t>
            </a:r>
            <a:endParaRPr lang="en-US" altLang="zh-CN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Can support different equipment and dietary preferences.</a:t>
            </a:r>
            <a:endParaRPr lang="en-US" altLang="zh-CN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Modular architecture makes the project easy to extend.</a:t>
            </a:r>
            <a:endParaRPr lang="en-US" altLang="zh-CN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Demonstrates real-world use of Gemini generative AI.</a:t>
            </a:r>
            <a:endParaRPr lang="zh-CN" altLang="en-US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24" name="Rectangle"/>
          <p:cNvSpPr>
            <a:spLocks/>
          </p:cNvSpPr>
          <p:nvPr/>
        </p:nvSpPr>
        <p:spPr>
          <a:xfrm rot="0">
            <a:off x="10881359" y="6473951"/>
            <a:ext cx="731518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646E73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18</a:t>
            </a:r>
            <a:endParaRPr lang="zh-CN" altLang="en-US" sz="900" b="0" i="0" u="none" strike="noStrike" kern="1200" cap="none" spc="0" baseline="0">
              <a:solidFill>
                <a:srgbClr val="646E73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2718056"/>
      </p:ext>
    </p:extLst>
  </p:cSld>
  <p:clrMapOvr>
    <a:masterClrMapping/>
  </p:clrMapOvr>
</p:sld>
</file>

<file path=ppt/slides/slide1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tangle"/>
          <p:cNvSpPr>
            <a:spLocks/>
          </p:cNvSpPr>
          <p:nvPr/>
        </p:nvSpPr>
        <p:spPr>
          <a:xfrm rot="0">
            <a:off x="0" y="0"/>
            <a:ext cx="12191694" cy="164592"/>
          </a:xfrm>
          <a:prstGeom prst="rect"/>
          <a:solidFill>
            <a:srgbClr val="149687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26" name="Rectangle"/>
          <p:cNvSpPr>
            <a:spLocks/>
          </p:cNvSpPr>
          <p:nvPr/>
        </p:nvSpPr>
        <p:spPr>
          <a:xfrm rot="0">
            <a:off x="594360" y="384048"/>
            <a:ext cx="10972800" cy="5943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rgbClr val="142337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18. Limitations &amp; Safety</a:t>
            </a:r>
            <a:endParaRPr lang="zh-CN" altLang="en-US" sz="2800" b="0" i="0" u="none" strike="noStrike" kern="1200" cap="none" spc="0" baseline="0">
              <a:solidFill>
                <a:srgbClr val="142337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27" name="Rectangle"/>
          <p:cNvSpPr>
            <a:spLocks/>
          </p:cNvSpPr>
          <p:nvPr/>
        </p:nvSpPr>
        <p:spPr>
          <a:xfrm rot="0">
            <a:off x="777240" y="1325880"/>
            <a:ext cx="10607040" cy="5029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AI-generated plans may contain errors or unsuitable suggestions.</a:t>
            </a:r>
            <a:endParaRPr lang="en-US" altLang="zh-CN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Fitness recommendations should not be treated as medical diagnosis or treatment.</a:t>
            </a:r>
            <a:endParaRPr lang="en-US" altLang="zh-CN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Users with injuries, medical conditions, or special health needs should consult a qualified professional.</a:t>
            </a:r>
            <a:endParaRPr lang="en-US" altLang="zh-CN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AI output quality depends on the quality and completeness of user input.</a:t>
            </a:r>
            <a:endParaRPr lang="en-US" altLang="zh-CN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API availability, cost and rate limits can affect generation.</a:t>
            </a:r>
            <a:endParaRPr lang="en-US" altLang="zh-CN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Privacy and security must be considered when storing personal information.</a:t>
            </a:r>
            <a:endParaRPr lang="zh-CN" altLang="en-US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28" name="Rectangle"/>
          <p:cNvSpPr>
            <a:spLocks/>
          </p:cNvSpPr>
          <p:nvPr/>
        </p:nvSpPr>
        <p:spPr>
          <a:xfrm rot="0">
            <a:off x="10881359" y="6473951"/>
            <a:ext cx="731518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646E73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19</a:t>
            </a:r>
            <a:endParaRPr lang="zh-CN" altLang="en-US" sz="900" b="0" i="0" u="none" strike="noStrike" kern="1200" cap="none" spc="0" baseline="0">
              <a:solidFill>
                <a:srgbClr val="646E73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8623576"/>
      </p:ext>
    </p:extLst>
  </p:cSld>
  <p:clrMapOvr>
    <a:masterClrMapping/>
  </p:clrMapOvr>
</p:sld>
</file>

<file path=ppt/slides/slide2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Rectangle"/>
          <p:cNvSpPr>
            <a:spLocks/>
          </p:cNvSpPr>
          <p:nvPr/>
        </p:nvSpPr>
        <p:spPr>
          <a:xfrm rot="0">
            <a:off x="0" y="0"/>
            <a:ext cx="12191694" cy="164592"/>
          </a:xfrm>
          <a:prstGeom prst="rect"/>
          <a:solidFill>
            <a:srgbClr val="149687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30" name="Rectangle"/>
          <p:cNvSpPr>
            <a:spLocks/>
          </p:cNvSpPr>
          <p:nvPr/>
        </p:nvSpPr>
        <p:spPr>
          <a:xfrm rot="0">
            <a:off x="594360" y="384048"/>
            <a:ext cx="10972800" cy="5943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rgbClr val="142337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19. Future Enhancements</a:t>
            </a:r>
            <a:endParaRPr lang="zh-CN" altLang="en-US" sz="2800" b="0" i="0" u="none" strike="noStrike" kern="1200" cap="none" spc="0" baseline="0">
              <a:solidFill>
                <a:srgbClr val="142337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31" name="Rectangle"/>
          <p:cNvSpPr>
            <a:spLocks/>
          </p:cNvSpPr>
          <p:nvPr/>
        </p:nvSpPr>
        <p:spPr>
          <a:xfrm rot="0">
            <a:off x="777240" y="1325880"/>
            <a:ext cx="10607040" cy="5029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Add wearable-device integration for activity and step tracking.</a:t>
            </a:r>
            <a:endParaRPr lang="en-US" altLang="zh-CN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Add progress dashboards and weekly analytics.</a:t>
            </a:r>
            <a:endParaRPr lang="en-US" altLang="zh-CN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Add exercise demonstration videos or illustrations.</a:t>
            </a:r>
            <a:endParaRPr lang="en-US" altLang="zh-CN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Use structured JSON output for more reliable plan rendering.</a:t>
            </a:r>
            <a:endParaRPr lang="en-US" altLang="zh-CN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Add multilingual support.</a:t>
            </a:r>
            <a:endParaRPr lang="en-US" altLang="zh-CN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Add goal-based reminders and notifications.</a:t>
            </a:r>
            <a:endParaRPr lang="en-US" altLang="zh-CN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Introduce optional human-trainer review or professional verification.</a:t>
            </a:r>
            <a:endParaRPr lang="zh-CN" altLang="en-US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32" name="Rectangle"/>
          <p:cNvSpPr>
            <a:spLocks/>
          </p:cNvSpPr>
          <p:nvPr/>
        </p:nvSpPr>
        <p:spPr>
          <a:xfrm rot="0">
            <a:off x="10881359" y="6473951"/>
            <a:ext cx="731518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646E73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20</a:t>
            </a:r>
            <a:endParaRPr lang="zh-CN" altLang="en-US" sz="900" b="0" i="0" u="none" strike="noStrike" kern="1200" cap="none" spc="0" baseline="0">
              <a:solidFill>
                <a:srgbClr val="646E73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8313224"/>
      </p:ext>
    </p:extLst>
  </p:cSld>
  <p:clrMapOvr>
    <a:masterClrMapping/>
  </p:clrMapOvr>
</p:sld>
</file>

<file path=ppt/slides/slide2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Rectangle"/>
          <p:cNvSpPr>
            <a:spLocks/>
          </p:cNvSpPr>
          <p:nvPr/>
        </p:nvSpPr>
        <p:spPr>
          <a:xfrm rot="0">
            <a:off x="0" y="0"/>
            <a:ext cx="12191694" cy="164592"/>
          </a:xfrm>
          <a:prstGeom prst="rect"/>
          <a:solidFill>
            <a:srgbClr val="149687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34" name="Rectangle"/>
          <p:cNvSpPr>
            <a:spLocks/>
          </p:cNvSpPr>
          <p:nvPr/>
        </p:nvSpPr>
        <p:spPr>
          <a:xfrm rot="0">
            <a:off x="594360" y="384048"/>
            <a:ext cx="10972800" cy="5943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rgbClr val="142337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20. Conclusion</a:t>
            </a:r>
            <a:endParaRPr lang="zh-CN" altLang="en-US" sz="2800" b="0" i="0" u="none" strike="noStrike" kern="1200" cap="none" spc="0" baseline="0">
              <a:solidFill>
                <a:srgbClr val="142337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35" name="Rectangle"/>
          <p:cNvSpPr>
            <a:spLocks/>
          </p:cNvSpPr>
          <p:nvPr/>
        </p:nvSpPr>
        <p:spPr>
          <a:xfrm rot="0">
            <a:off x="777240" y="1325880"/>
            <a:ext cx="10607040" cy="5029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FitBuddy demonstrates how Gemini can be integrated into a fitness-planning application.</a:t>
            </a:r>
            <a:endParaRPr lang="en-US" altLang="zh-CN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The system combines user profiling, AI generation, database storage and a simple interface.</a:t>
            </a:r>
            <a:endParaRPr lang="en-US" altLang="zh-CN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It provides a practical college project example of generative AI applied to personalized wellness planning.</a:t>
            </a:r>
            <a:endParaRPr lang="en-US" altLang="zh-CN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32D3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With stronger validation, privacy controls and professional review, the system can be expanded into a more complete wellness platform.</a:t>
            </a:r>
            <a:endParaRPr lang="zh-CN" altLang="en-US" sz="2000" b="0" i="0" u="none" strike="noStrike" kern="1200" cap="none" spc="0" baseline="0">
              <a:solidFill>
                <a:srgbClr val="232D3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36" name="Rectangle"/>
          <p:cNvSpPr>
            <a:spLocks/>
          </p:cNvSpPr>
          <p:nvPr/>
        </p:nvSpPr>
        <p:spPr>
          <a:xfrm rot="0">
            <a:off x="10881359" y="6473951"/>
            <a:ext cx="731518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646E73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21</a:t>
            </a:r>
            <a:endParaRPr lang="zh-CN" altLang="en-US" sz="900" b="0" i="0" u="none" strike="noStrike" kern="1200" cap="none" spc="0" baseline="0">
              <a:solidFill>
                <a:srgbClr val="646E73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9672605"/>
      </p:ext>
    </p:extLst>
  </p:cSld>
  <p:clrMapOvr>
    <a:masterClrMapping/>
  </p:clrMapOvr>
</p:sld>
</file>

<file path=ppt/slides/slide2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142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ctangle"/>
          <p:cNvSpPr>
            <a:spLocks/>
          </p:cNvSpPr>
          <p:nvPr/>
        </p:nvSpPr>
        <p:spPr>
          <a:xfrm rot="0">
            <a:off x="914400" y="2011679"/>
            <a:ext cx="10332720" cy="12801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60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THANK YOU</a:t>
            </a:r>
            <a:endParaRPr lang="zh-CN" altLang="en-US" sz="4600" b="0" i="0" u="none" strike="noStrike" kern="1200" cap="none" spc="0" baseline="0">
              <a:solidFill>
                <a:srgbClr val="FFFFFF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38" name="Rectangle"/>
          <p:cNvSpPr>
            <a:spLocks/>
          </p:cNvSpPr>
          <p:nvPr/>
        </p:nvSpPr>
        <p:spPr>
          <a:xfrm rot="0">
            <a:off x="1371600" y="3291840"/>
            <a:ext cx="9418320" cy="9144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0" i="0" u="none" strike="noStrike" kern="1200" cap="none" spc="0" baseline="0">
                <a:solidFill>
                  <a:srgbClr val="AAEBE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FitBuddy – AI Fitness Plan Generator using Gemini</a:t>
            </a:r>
            <a:endParaRPr lang="zh-CN" altLang="en-US" sz="2200" b="0" i="0" u="none" strike="noStrike" kern="1200" cap="none" spc="0" baseline="0">
              <a:solidFill>
                <a:srgbClr val="AAEBE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35538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 Theme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docProps/app.xml><?xml version="1.0" encoding="utf-8"?>
<Properties xmlns="http://schemas.openxmlformats.org/officeDocument/2006/extended-properties">
  <Template>Normal.eit</Template>
  <TotalTime>6</TotalTime>
  <Application>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description>generated using python-pptx</dc:description>
  <cp:lastModifiedBy>Mobile phone user</cp:lastModifiedBy>
  <cp:revision>1</cp:revision>
  <dcterms:created xsi:type="dcterms:W3CDTF">2013-01-27T09:14:16Z</dcterms:created>
  <dcterms:modified xsi:type="dcterms:W3CDTF">2026-09-26T02:53:18Z</dcterms:modified>
</cp:coreProperties>
</file>